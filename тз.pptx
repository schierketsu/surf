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2" r:id="rId2"/>
    <p:sldId id="281" r:id="rId3"/>
    <p:sldId id="282" r:id="rId4"/>
    <p:sldId id="260" r:id="rId5"/>
    <p:sldId id="271" r:id="rId6"/>
    <p:sldId id="276" r:id="rId7"/>
    <p:sldId id="283" r:id="rId8"/>
    <p:sldId id="258" r:id="rId9"/>
    <p:sldId id="273" r:id="rId10"/>
    <p:sldId id="274" r:id="rId11"/>
    <p:sldId id="266" r:id="rId12"/>
    <p:sldId id="261" r:id="rId13"/>
    <p:sldId id="269" r:id="rId14"/>
    <p:sldId id="270" r:id="rId15"/>
    <p:sldId id="280" r:id="rId16"/>
    <p:sldId id="277" r:id="rId17"/>
    <p:sldId id="27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FF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09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900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8139-928B-516C-F2B0-687D31EA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05F6D-76D1-6002-C12B-57937679E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7B622-CE58-2063-6F6B-20823F03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36C69-53F3-C324-E35C-C263D5040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24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A646-83D3-6137-639E-AB434458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2BF91-8DE5-266C-FDDC-C838C6760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FAF71-BD4F-3546-F141-C677493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C1802-43CE-4D4E-BBD9-985ABCB22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66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FD64B-62E3-219F-AF78-648B6006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25900-BBB0-7F9C-25BF-F266D34EF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2328A-2367-3398-23DE-D755CB7E5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50A16-B4D4-D754-D931-3F9BEFF33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50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487C9-28E1-507F-AA0D-E29996616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14F06-AC2C-1875-2491-B3AE263B7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D3071-227A-958A-9818-1D1668DEE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16DB1-EFE5-D446-E76B-866E6D9154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82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4D0E-0AF7-446B-D268-9012386C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0F0B2-1C09-F904-B30C-0548DFB5F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E8495-F3AB-CDF6-AE9D-2426F7EAD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91BDC-F104-837A-9221-9192AAE579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79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3E5E7-87A8-EA17-A813-26A6D341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EC80B-12B2-C8D2-3A2F-656615461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829CA-9281-B61E-1F00-FFE626644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61C08-1D13-263E-D510-38449CA198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13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393F0-E5B8-CC63-F264-85348BE2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591F0-5A46-372F-8B3E-9DFD07AB5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0C544-5180-D698-7F37-1CD1DBCE7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A9FB7-B8FF-08C5-49BC-127FEA34F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48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0F1A-9CCE-1824-04E1-79BBF85B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09617-EDB5-B8FB-5505-1EDBF335B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75F8A-1A39-8BD3-44A1-AD1B5C0E8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82B2E-C99C-7C0D-15FE-30E56C676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41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4EA89-9726-02E3-19FC-89B76E8C4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D5C08-AF93-3C36-9A4F-F6C4C600A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0C5BF-8B5B-D54B-9E5C-3CACDE4EC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50635-B667-AA58-8E5B-1DC78B82A8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69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727AF-46CD-B55E-D1E3-16CAF5E0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1BEA6-0942-D25A-093E-B0A50541D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58C0C-9DD9-69CF-0CD6-7E4C3EFF4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42F20-6E5A-ECF4-52C4-D7EB324B4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47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294BC-27D5-D808-B762-EA4E400C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7FD73-D039-B527-004A-8CACA6B2D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B778D-662B-5B68-D3A7-B049CE85C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F7815-7956-DD34-CB97-213E61E4A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16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12C30-82C5-71ED-C888-8B7C6D9F5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34F9E-8D50-DE92-6735-7B08A11A1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00DBE-AD42-35B0-253D-E00D863D2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421AD-47C0-5937-6EFF-5EAE1F3CD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107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5E994-20B8-3F11-E74B-723F8FE8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42160-203F-5EBF-9558-25DBF1A5D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32240-FE49-80E0-CB62-5F4E43586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FDCA8-7D70-530A-29F8-3B5FC23B1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05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10F3-E0D2-60EC-92CC-D5C2417B4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26DAF6-C580-6ECB-F25A-64A678B96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6CF5A-86BB-F22D-2D53-F2553DFD2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E57DF-F9EA-351E-9500-E1988D3F7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81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A"/>
                </a:solidFill>
                <a:latin typeface="VTB Group UI Book"/>
                <a:ea typeface="VTB Group UI Book"/>
                <a:cs typeface="VTB Group UI Book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4B5"/>
                </a:solidFill>
                <a:latin typeface="VTB Group UI Book"/>
                <a:ea typeface="VTB Group UI Book"/>
                <a:cs typeface="VTB Group UI Book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A"/>
                </a:solidFill>
                <a:latin typeface="VTB Group UI Book"/>
                <a:ea typeface="VTB Group UI Book"/>
                <a:cs typeface="VTB Group UI Book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2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B97A3-5D5F-E864-A63B-3BD2F24B1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05BABAC-7334-6DB3-BD3A-9B51A694F9DB}"/>
              </a:ext>
            </a:extLst>
          </p:cNvPr>
          <p:cNvSpPr txBox="1"/>
          <p:nvPr/>
        </p:nvSpPr>
        <p:spPr>
          <a:xfrm>
            <a:off x="5808213" y="3817661"/>
            <a:ext cx="5845071" cy="133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Общее рабочее место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008D2FF-D423-6859-77B9-DA374BD354BE}"/>
              </a:ext>
            </a:extLst>
          </p:cNvPr>
          <p:cNvSpPr txBox="1"/>
          <p:nvPr/>
        </p:nvSpPr>
        <p:spPr>
          <a:xfrm>
            <a:off x="4042498" y="2592329"/>
            <a:ext cx="4293427" cy="167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8000">
                <a:solidFill>
                  <a:schemeClr val="bg1"/>
                </a:solidFill>
                <a:latin typeface="VTB Group UI Semi Bold" pitchFamily="34" charset="0"/>
              </a:rPr>
              <a:t>Доска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E0278D-BF6E-62E3-47EF-806252063EB4}"/>
              </a:ext>
            </a:extLst>
          </p:cNvPr>
          <p:cNvSpPr txBox="1"/>
          <p:nvPr/>
        </p:nvSpPr>
        <p:spPr>
          <a:xfrm>
            <a:off x="5372278" y="2394009"/>
            <a:ext cx="5579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Контекст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4719E8-4732-D611-9D96-10020505779F}"/>
              </a:ext>
            </a:extLst>
          </p:cNvPr>
          <p:cNvSpPr txBox="1"/>
          <p:nvPr/>
        </p:nvSpPr>
        <p:spPr>
          <a:xfrm>
            <a:off x="1122799" y="2172977"/>
            <a:ext cx="5579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Визуализация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9612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22C3D-282F-3DE6-3DB2-95EEB5D2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BB1621-B508-874B-727F-BA46B8957743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Функциональные требования</a:t>
            </a:r>
            <a:endParaRPr lang="ru-RU" sz="320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E7D3279-A58B-03BD-2108-83065B5A8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731723"/>
              </p:ext>
            </p:extLst>
          </p:nvPr>
        </p:nvGraphicFramePr>
        <p:xfrm>
          <a:off x="534295" y="1453313"/>
          <a:ext cx="11261464" cy="464846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630732">
                  <a:extLst>
                    <a:ext uri="{9D8B030D-6E8A-4147-A177-3AD203B41FA5}">
                      <a16:colId xmlns:a16="http://schemas.microsoft.com/office/drawing/2014/main" val="1316740329"/>
                    </a:ext>
                  </a:extLst>
                </a:gridCol>
                <a:gridCol w="5630732">
                  <a:extLst>
                    <a:ext uri="{9D8B030D-6E8A-4147-A177-3AD203B41FA5}">
                      <a16:colId xmlns:a16="http://schemas.microsoft.com/office/drawing/2014/main" val="3952294350"/>
                    </a:ext>
                  </a:extLst>
                </a:gridCol>
              </a:tblGrid>
              <a:tr h="481813"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Требование</a:t>
                      </a:r>
                    </a:p>
                  </a:txBody>
                  <a:tcPr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Описание</a:t>
                      </a:r>
                    </a:p>
                  </a:txBody>
                  <a:tcPr>
                    <a:solidFill>
                      <a:srgbClr val="00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080250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Semi Bold"/>
                        </a:rPr>
                        <a:t>Создание доски вместе с ВКС</a:t>
                      </a:r>
                      <a:endParaRPr lang="ru-RU"/>
                    </a:p>
                  </a:txBody>
                  <a:tcPr marL="182880" marR="1828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/>
                        </a:rPr>
                        <a:t>Переключатель «Доска» в Оповещаторе. По кнопке «Оповестить» доска создаётся вместе с ВКС и привязывается к комнате DION</a:t>
                      </a:r>
                      <a:endParaRPr lang="ru-RU"/>
                    </a:p>
                  </a:txBody>
                  <a:tcPr marL="182880" marR="182880" anchor="ctr"/>
                </a:tc>
                <a:extLst>
                  <a:ext uri="{0D108BD9-81ED-4DB2-BD59-A6C34878D82A}">
                    <a16:rowId xmlns:a16="http://schemas.microsoft.com/office/drawing/2014/main" val="1306159448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Semi Bold"/>
                        </a:rPr>
                        <a:t>Ссылка в оповещении</a:t>
                      </a:r>
                      <a:endParaRPr lang="ru-RU"/>
                    </a:p>
                  </a:txBody>
                  <a:tcPr marL="182880" marR="1828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/>
                        </a:rPr>
                        <a:t>Ссылка на доску видна в предпросмотре и уходит участникам в одном сообщении со ссылкой на ВКС</a:t>
                      </a:r>
                      <a:endParaRPr lang="ru-RU"/>
                    </a:p>
                  </a:txBody>
                  <a:tcPr marL="182880" marR="182880" anchor="ctr"/>
                </a:tc>
                <a:extLst>
                  <a:ext uri="{0D108BD9-81ED-4DB2-BD59-A6C34878D82A}">
                    <a16:rowId xmlns:a16="http://schemas.microsoft.com/office/drawing/2014/main" val="1610479619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Semi Bold"/>
                        </a:rPr>
                        <a:t>Контекст аварии на доске</a:t>
                      </a:r>
                      <a:endParaRPr lang="ru-RU"/>
                    </a:p>
                  </a:txBody>
                  <a:tcPr marL="182880" marR="1828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/>
                        </a:rPr>
                        <a:t>Доска заполняется по шаблону: ID аварии, система, КЕ, критичность, точка сбоя, связанные сервисы, ID ВКС</a:t>
                      </a:r>
                      <a:endParaRPr lang="ru-RU"/>
                    </a:p>
                  </a:txBody>
                  <a:tcPr marL="182880" marR="182880" anchor="ctr"/>
                </a:tc>
                <a:extLst>
                  <a:ext uri="{0D108BD9-81ED-4DB2-BD59-A6C34878D82A}">
                    <a16:rowId xmlns:a16="http://schemas.microsoft.com/office/drawing/2014/main" val="2793033974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Semi Bold"/>
                        </a:rPr>
                        <a:t>Совместная работа</a:t>
                      </a:r>
                      <a:endParaRPr lang="ru-RU"/>
                    </a:p>
                  </a:txBody>
                  <a:tcPr marL="182880" marR="1828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/>
                        </a:rPr>
                        <a:t>Стикеры, текст, фигуры и рамки; курсоры и имена участников видны в реальном времени</a:t>
                      </a:r>
                      <a:endParaRPr lang="ru-RU"/>
                    </a:p>
                  </a:txBody>
                  <a:tcPr marL="182880" marR="182880" anchor="ctr"/>
                </a:tc>
                <a:extLst>
                  <a:ext uri="{0D108BD9-81ED-4DB2-BD59-A6C34878D82A}">
                    <a16:rowId xmlns:a16="http://schemas.microsoft.com/office/drawing/2014/main" val="484731448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Semi Bold"/>
                        </a:rPr>
                        <a:t>История и личная копия</a:t>
                      </a:r>
                      <a:endParaRPr lang="ru-RU"/>
                    </a:p>
                  </a:txBody>
                  <a:tcPr marL="182880" marR="1828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/>
                        </a:rPr>
                        <a:t>Перед новой ВКС состояние доски уходит в бэкап (только просмотр); </a:t>
                      </a:r>
                      <a:r>
                        <a:rPr sz="1400">
                          <a:solidFill>
                            <a:srgbClr val="141414"/>
                          </a:solidFill>
                          <a:highlight>
                            <a:srgbClr val="FFFF00"/>
                          </a:highlight>
                          <a:latin typeface="VTB Group UI Book"/>
                        </a:rPr>
                        <a:t>доску можно скопировать в личное пространство</a:t>
                      </a:r>
                      <a:endParaRPr lang="ru-RU">
                        <a:highlight>
                          <a:srgbClr val="FFFF00"/>
                        </a:highlight>
                      </a:endParaRPr>
                    </a:p>
                  </a:txBody>
                  <a:tcPr marL="182880" marR="182880" anchor="ctr"/>
                </a:tc>
                <a:extLst>
                  <a:ext uri="{0D108BD9-81ED-4DB2-BD59-A6C34878D82A}">
                    <a16:rowId xmlns:a16="http://schemas.microsoft.com/office/drawing/2014/main" val="80070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21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F7215-9BCE-B88E-0D71-7A3BE09B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6D58B8-E4C5-218D-D042-DF84142456D1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Нефункциональные требования</a:t>
            </a:r>
            <a:endParaRPr lang="ru-RU" sz="320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60167D7-CEEE-A31A-9A5D-ACA3C4E15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40865"/>
              </p:ext>
            </p:extLst>
          </p:nvPr>
        </p:nvGraphicFramePr>
        <p:xfrm>
          <a:off x="534295" y="1453313"/>
          <a:ext cx="11261464" cy="476001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630732">
                  <a:extLst>
                    <a:ext uri="{9D8B030D-6E8A-4147-A177-3AD203B41FA5}">
                      <a16:colId xmlns:a16="http://schemas.microsoft.com/office/drawing/2014/main" val="1316740329"/>
                    </a:ext>
                  </a:extLst>
                </a:gridCol>
                <a:gridCol w="5630732">
                  <a:extLst>
                    <a:ext uri="{9D8B030D-6E8A-4147-A177-3AD203B41FA5}">
                      <a16:colId xmlns:a16="http://schemas.microsoft.com/office/drawing/2014/main" val="3952294350"/>
                    </a:ext>
                  </a:extLst>
                </a:gridCol>
              </a:tblGrid>
              <a:tr h="481813"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Требование</a:t>
                      </a:r>
                    </a:p>
                  </a:txBody>
                  <a:tcPr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Описание</a:t>
                      </a:r>
                    </a:p>
                  </a:txBody>
                  <a:tcPr>
                    <a:solidFill>
                      <a:srgbClr val="00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080250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Semi Bold"/>
                        </a:rPr>
                        <a:t>Производительность</a:t>
                      </a:r>
                      <a:endParaRPr lang="ru-RU"/>
                    </a:p>
                  </a:txBody>
                  <a:tcPr marL="182880" marR="1828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/>
                        </a:rPr>
                        <a:t>Доска создаётся не дольше </a:t>
                      </a:r>
                      <a:r>
                        <a:rPr lang="ru-RU" sz="1400">
                          <a:solidFill>
                            <a:srgbClr val="141414"/>
                          </a:solidFill>
                          <a:highlight>
                            <a:srgbClr val="FFFF00"/>
                          </a:highlight>
                          <a:latin typeface="VTB Group UI Book"/>
                        </a:rPr>
                        <a:t>3 с </a:t>
                      </a:r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/>
                        </a:rPr>
                        <a:t>после «Оповестить»; </a:t>
                      </a:r>
                    </a:p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/>
                        </a:rPr>
                        <a:t>Правки видны участникам не позже чем через </a:t>
                      </a:r>
                      <a:r>
                        <a:rPr lang="ru-RU" sz="1400">
                          <a:solidFill>
                            <a:srgbClr val="141414"/>
                          </a:solidFill>
                          <a:highlight>
                            <a:srgbClr val="FFFF00"/>
                          </a:highlight>
                          <a:latin typeface="VTB Group UI Book"/>
                        </a:rPr>
                        <a:t>1 с (больше - дискомфорт)</a:t>
                      </a:r>
                      <a:endParaRPr lang="ru-RU">
                        <a:highlight>
                          <a:srgbClr val="FFFF00"/>
                        </a:highlight>
                      </a:endParaRPr>
                    </a:p>
                  </a:txBody>
                  <a:tcPr marL="182880" marR="182880" anchor="ctr"/>
                </a:tc>
                <a:extLst>
                  <a:ext uri="{0D108BD9-81ED-4DB2-BD59-A6C34878D82A}">
                    <a16:rowId xmlns:a16="http://schemas.microsoft.com/office/drawing/2014/main" val="1306159448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41414"/>
                          </a:solidFill>
                          <a:latin typeface="VTB Group UI Semi Bold"/>
                        </a:rPr>
                        <a:t>Количество одновременных участников</a:t>
                      </a:r>
                      <a:endParaRPr lang="ru-RU"/>
                    </a:p>
                  </a:txBody>
                  <a:tcPr marL="182880" marR="1828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/>
                        </a:rPr>
                        <a:t>Среднее кол-во участников в ВКС</a:t>
                      </a:r>
                      <a:r>
                        <a:rPr lang="en-US" sz="1400">
                          <a:solidFill>
                            <a:srgbClr val="141414"/>
                          </a:solidFill>
                          <a:latin typeface="VTB Group UI Book"/>
                        </a:rPr>
                        <a:t>: </a:t>
                      </a:r>
                      <a:r>
                        <a:rPr lang="en-US" sz="1400">
                          <a:solidFill>
                            <a:srgbClr val="141414"/>
                          </a:solidFill>
                          <a:highlight>
                            <a:srgbClr val="FFFF00"/>
                          </a:highlight>
                          <a:latin typeface="VTB Group UI Book"/>
                        </a:rPr>
                        <a:t>50</a:t>
                      </a:r>
                      <a:r>
                        <a:rPr lang="en-US" sz="1400">
                          <a:solidFill>
                            <a:srgbClr val="141414"/>
                          </a:solidFill>
                          <a:latin typeface="VTB Group UI Book"/>
                        </a:rPr>
                        <a:t> </a:t>
                      </a:r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/>
                        </a:rPr>
                        <a:t>(до 1000 возможно), но присоединение к доске архитектурно нереализуемо такого кол-ва. Одновременное удержание на доске 25, с деградациями до 50.</a:t>
                      </a:r>
                      <a:endParaRPr lang="ru-RU"/>
                    </a:p>
                  </a:txBody>
                  <a:tcPr marL="182880" marR="182880" anchor="ctr"/>
                </a:tc>
                <a:extLst>
                  <a:ext uri="{0D108BD9-81ED-4DB2-BD59-A6C34878D82A}">
                    <a16:rowId xmlns:a16="http://schemas.microsoft.com/office/drawing/2014/main" val="1610479619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41414"/>
                          </a:solidFill>
                          <a:latin typeface="VTB Group UI Semi Bold"/>
                        </a:rPr>
                        <a:t>Ролевой доступ</a:t>
                      </a:r>
                      <a:endParaRPr lang="ru-RU"/>
                    </a:p>
                  </a:txBody>
                  <a:tcPr marL="182880" marR="1828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/>
                        </a:rPr>
                        <a:t>Роли </a:t>
                      </a:r>
                      <a:r>
                        <a:rPr sz="1400">
                          <a:solidFill>
                            <a:srgbClr val="141414"/>
                          </a:solidFill>
                          <a:latin typeface="VTB Group UI Book"/>
                        </a:rPr>
                        <a:t>«редактор» и «просмотр»</a:t>
                      </a:r>
                      <a:r>
                        <a:rPr lang="ru-RU" sz="1400">
                          <a:solidFill>
                            <a:srgbClr val="141414"/>
                          </a:solidFill>
                          <a:latin typeface="VTB Group UI Book"/>
                        </a:rPr>
                        <a:t>, предоставление доступа к доске не всем пользователям ВКС.</a:t>
                      </a:r>
                      <a:endParaRPr lang="ru-RU"/>
                    </a:p>
                  </a:txBody>
                  <a:tcPr marL="182880" marR="182880" anchor="ctr"/>
                </a:tc>
                <a:extLst>
                  <a:ext uri="{0D108BD9-81ED-4DB2-BD59-A6C34878D82A}">
                    <a16:rowId xmlns:a16="http://schemas.microsoft.com/office/drawing/2014/main" val="2793033974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Semi Bold"/>
                        </a:rPr>
                        <a:t>Надёжность</a:t>
                      </a:r>
                      <a:endParaRPr lang="ru-RU"/>
                    </a:p>
                  </a:txBody>
                  <a:tcPr marL="182880" marR="1828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4"/>
                          </a:solidFill>
                          <a:latin typeface="VTB Group UI Book"/>
                        </a:rPr>
                        <a:t>Сбой создания доски не блокирует ВКС и оповещение; автосохранение изменений и бэкап при каждой новой ВКС</a:t>
                      </a:r>
                      <a:endParaRPr lang="ru-RU"/>
                    </a:p>
                  </a:txBody>
                  <a:tcPr marL="182880" marR="182880" anchor="ctr"/>
                </a:tc>
                <a:extLst>
                  <a:ext uri="{0D108BD9-81ED-4DB2-BD59-A6C34878D82A}">
                    <a16:rowId xmlns:a16="http://schemas.microsoft.com/office/drawing/2014/main" val="484731448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41414"/>
                          </a:solidFill>
                          <a:latin typeface="VTB Group UI Semi Bold"/>
                        </a:rPr>
                        <a:t>Совместимость</a:t>
                      </a:r>
                      <a:endParaRPr lang="ru-RU"/>
                    </a:p>
                  </a:txBody>
                  <a:tcPr marL="182880" marR="1828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latin typeface="VTB Group UI Book" panose="020B0503040504020204" pitchFamily="34" charset="-52"/>
                        </a:rPr>
                        <a:t>Доступ внутри корпоративной среды либо только из внешней. Компромисс невозможен.</a:t>
                      </a:r>
                    </a:p>
                  </a:txBody>
                  <a:tcPr marL="182880" marR="182880" anchor="ctr"/>
                </a:tc>
                <a:extLst>
                  <a:ext uri="{0D108BD9-81ED-4DB2-BD59-A6C34878D82A}">
                    <a16:rowId xmlns:a16="http://schemas.microsoft.com/office/drawing/2014/main" val="80070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56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angle 240663624" descr="preencoded.png">
            <a:extLst>
              <a:ext uri="{FF2B5EF4-FFF2-40B4-BE49-F238E27FC236}">
                <a16:creationId xmlns:a16="http://schemas.microsoft.com/office/drawing/2014/main" id="{9010DED7-9CD8-2AA0-FF80-0CCB31903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851636" y="2200275"/>
            <a:ext cx="6397611" cy="4286250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6E3B43DC-E51E-1A7B-37F0-8A1D36367402}"/>
              </a:ext>
            </a:extLst>
          </p:cNvPr>
          <p:cNvSpPr txBox="1"/>
          <p:nvPr/>
        </p:nvSpPr>
        <p:spPr>
          <a:xfrm>
            <a:off x="3931920" y="4069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FB4FF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→</a:t>
            </a:r>
            <a:endParaRPr lang="en-US" sz="2600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7814FD5D-4045-547B-B7E8-F1E510FA93DA}"/>
              </a:ext>
            </a:extLst>
          </p:cNvPr>
          <p:cNvSpPr txBox="1"/>
          <p:nvPr/>
        </p:nvSpPr>
        <p:spPr>
          <a:xfrm>
            <a:off x="655320" y="371475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dirty="0"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Доска — часть сценария оповещения,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а не отдельный сервис</a:t>
            </a:r>
            <a:endParaRPr lang="en-US" sz="3600" dirty="0"/>
          </a:p>
        </p:txBody>
      </p:sp>
      <p:pic>
        <p:nvPicPr>
          <p:cNvPr id="3" name="Rectangle 240663625" descr="preencoded.png">
            <a:extLst>
              <a:ext uri="{FF2B5EF4-FFF2-40B4-BE49-F238E27FC236}">
                <a16:creationId xmlns:a16="http://schemas.microsoft.com/office/drawing/2014/main" id="{211E860D-1A43-E0B8-174E-B97D52E09D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03885" y="2200275"/>
            <a:ext cx="3876675" cy="4286250"/>
          </a:xfrm>
          <a:prstGeom prst="rect">
            <a:avLst/>
          </a:prstGeom>
        </p:spPr>
      </p:pic>
      <p:sp>
        <p:nvSpPr>
          <p:cNvPr id="5" name="Text 9">
            <a:extLst>
              <a:ext uri="{FF2B5EF4-FFF2-40B4-BE49-F238E27FC236}">
                <a16:creationId xmlns:a16="http://schemas.microsoft.com/office/drawing/2014/main" id="{A18FD1A8-B42F-578B-30F1-66FB9FE8DEB7}"/>
              </a:ext>
            </a:extLst>
          </p:cNvPr>
          <p:cNvSpPr txBox="1"/>
          <p:nvPr/>
        </p:nvSpPr>
        <p:spPr>
          <a:xfrm>
            <a:off x="4414638" y="239359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0" dirty="0">
                <a:solidFill>
                  <a:srgbClr val="8FB4FF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077C43A-D775-E76F-2F87-CACB868201AA}"/>
              </a:ext>
            </a:extLst>
          </p:cNvPr>
          <p:cNvSpPr txBox="1"/>
          <p:nvPr/>
        </p:nvSpPr>
        <p:spPr>
          <a:xfrm>
            <a:off x="11117403" y="580991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0" dirty="0">
                <a:solidFill>
                  <a:srgbClr val="8FB4FF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74E80C-C5E4-FD2E-88F7-1E8A06B47F42}"/>
              </a:ext>
            </a:extLst>
          </p:cNvPr>
          <p:cNvSpPr txBox="1"/>
          <p:nvPr/>
        </p:nvSpPr>
        <p:spPr>
          <a:xfrm>
            <a:off x="510074" y="2912239"/>
            <a:ext cx="40642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>
                <a:solidFill>
                  <a:schemeClr val="bg1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Дежурный</a:t>
            </a:r>
          </a:p>
          <a:p>
            <a:pPr algn="ctr"/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опционально</a:t>
            </a:r>
            <a:b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</a:b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включает</a:t>
            </a:r>
            <a:b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</a:b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доску при создании ВКС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06B8E0-4E9F-4ED6-2B00-6F5D04A76CE0}"/>
              </a:ext>
            </a:extLst>
          </p:cNvPr>
          <p:cNvSpPr txBox="1"/>
          <p:nvPr/>
        </p:nvSpPr>
        <p:spPr>
          <a:xfrm>
            <a:off x="6051255" y="2667910"/>
            <a:ext cx="40642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>
                <a:solidFill>
                  <a:schemeClr val="bg1"/>
                </a:solidFill>
                <a:latin typeface="VTB Group UI Semi Bold" panose="020B0603050504020204" pitchFamily="34" charset="-52"/>
              </a:rPr>
              <a:t>ВКС</a:t>
            </a: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 и </a:t>
            </a:r>
            <a:r>
              <a:rPr lang="ru-RU" sz="3600">
                <a:solidFill>
                  <a:schemeClr val="bg1"/>
                </a:solidFill>
                <a:latin typeface="VTB Group UI Semi Bold" panose="020B0603050504020204" pitchFamily="34" charset="-52"/>
              </a:rPr>
              <a:t>Доска</a:t>
            </a: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 создаются одновременно</a:t>
            </a:r>
            <a:b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</a:br>
            <a:r>
              <a:rPr lang="ru-RU" sz="3600">
                <a:solidFill>
                  <a:schemeClr val="bg1"/>
                </a:solidFill>
                <a:latin typeface="VTB Group UI Book" panose="020B0503040504020204" pitchFamily="34" charset="-52"/>
              </a:rPr>
              <a:t>(участникам предоставляется доступ)</a:t>
            </a:r>
            <a:endParaRPr lang="en-US" sz="3600" dirty="0">
              <a:solidFill>
                <a:schemeClr val="bg1"/>
              </a:solidFill>
              <a:latin typeface="VTB Group UI Book" panose="020B0503040504020204" pitchFamily="34" charset="-5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5AECD-8F4F-8FDB-4668-42C8BE529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9097879-D8A5-4EAC-699B-8913FF68DAE1}"/>
              </a:ext>
            </a:extLst>
          </p:cNvPr>
          <p:cNvSpPr txBox="1"/>
          <p:nvPr/>
        </p:nvSpPr>
        <p:spPr>
          <a:xfrm>
            <a:off x="534296" y="1455028"/>
            <a:ext cx="11261464" cy="1216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Нет встраивания в </a:t>
            </a:r>
            <a:r>
              <a:rPr lang="en-US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DION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. Только демонстрация экрана дежурным, но у каждого есть доступ к доске.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endParaRPr lang="ru-RU" sz="3400">
              <a:solidFill>
                <a:srgbClr val="0B1733"/>
              </a:solidFill>
              <a:latin typeface="VTB Group UI Book" panose="020B0503040504020204" pitchFamily="34" charset="-52"/>
            </a:endParaRPr>
          </a:p>
          <a:p>
            <a:pPr marL="0" indent="0">
              <a:buNone/>
            </a:pPr>
            <a:endParaRPr lang="en-US" sz="3400" dirty="0">
              <a:latin typeface="VTB Group UI Book" panose="020B0503040504020204" pitchFamily="34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DD686-A58A-5119-BA52-8B7ABB639DEB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Открытые вопросы</a:t>
            </a:r>
            <a:endParaRPr lang="ru-RU" sz="3200"/>
          </a:p>
        </p:txBody>
      </p:sp>
      <p:pic>
        <p:nvPicPr>
          <p:cNvPr id="19" name="3" descr="preencoded.png">
            <a:extLst>
              <a:ext uri="{FF2B5EF4-FFF2-40B4-BE49-F238E27FC236}">
                <a16:creationId xmlns:a16="http://schemas.microsoft.com/office/drawing/2014/main" id="{56E12642-099F-7354-4801-245EC016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149" b="61089"/>
          <a:stretch>
            <a:fillRect/>
          </a:stretch>
        </p:blipFill>
        <p:spPr>
          <a:xfrm>
            <a:off x="534296" y="1469017"/>
            <a:ext cx="950413" cy="70788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2CF729DD-CEED-E33C-CD7B-E2F636E19028}"/>
              </a:ext>
            </a:extLst>
          </p:cNvPr>
          <p:cNvSpPr/>
          <p:nvPr/>
        </p:nvSpPr>
        <p:spPr>
          <a:xfrm>
            <a:off x="690998" y="1621876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lang="ru-RU" sz="2400" b="1" kern="0" spc="-150">
                <a:solidFill>
                  <a:srgbClr val="FFFFFF"/>
                </a:solidFill>
                <a:latin typeface="Styrene A Bold" pitchFamily="34" charset="0"/>
                <a:ea typeface="Styrene A Bold" pitchFamily="34" charset="-122"/>
                <a:cs typeface="Styrene A Bold" pitchFamily="34" charset="-120"/>
              </a:rPr>
              <a:t>01</a:t>
            </a:r>
            <a:endParaRPr lang="en-US" sz="240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459834D9-4B3A-5D42-A049-5ABCA4047765}"/>
              </a:ext>
            </a:extLst>
          </p:cNvPr>
          <p:cNvSpPr txBox="1"/>
          <p:nvPr/>
        </p:nvSpPr>
        <p:spPr>
          <a:xfrm>
            <a:off x="534296" y="2685718"/>
            <a:ext cx="11261464" cy="389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Где живут доски</a:t>
            </a:r>
            <a:r>
              <a:rPr lang="en-US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?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 </a:t>
            </a:r>
            <a:endParaRPr lang="en-US" sz="3400">
              <a:solidFill>
                <a:srgbClr val="0B1733"/>
              </a:solidFill>
              <a:latin typeface="VTB Group UI Book" panose="020B0503040504020204" pitchFamily="34" charset="-52"/>
              <a:ea typeface="VTB Group UI Semi Bold" pitchFamily="34" charset="-122"/>
              <a:cs typeface="VTB Group UI Semi Bold" pitchFamily="34" charset="-120"/>
            </a:endParaRPr>
          </a:p>
          <a:p>
            <a:pPr marL="0" indent="0">
              <a:buNone/>
            </a:pPr>
            <a: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1) 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В пространстве создателя (дежурный создавший ВКС)</a:t>
            </a:r>
            <a:b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</a:br>
            <a:r>
              <a:rPr lang="ru-RU" sz="34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2) Каждая доска привязана к комнате </a:t>
            </a:r>
            <a:r>
              <a:rPr lang="en-US" sz="34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DION’</a:t>
            </a:r>
            <a:r>
              <a:rPr lang="ru-RU" sz="340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а, при инициализации ВКС - предыдущее состояние доски бэкапится, в текущем – очищает доску, и заводит информацию на неё по шаблону. 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endParaRPr lang="ru-RU" sz="3400">
              <a:solidFill>
                <a:srgbClr val="0B1733"/>
              </a:solidFill>
              <a:latin typeface="VTB Group UI Book" panose="020B0503040504020204" pitchFamily="34" charset="-52"/>
            </a:endParaRPr>
          </a:p>
          <a:p>
            <a:pPr marL="0" indent="0">
              <a:buNone/>
            </a:pPr>
            <a:endParaRPr lang="en-US" sz="3400" dirty="0">
              <a:latin typeface="VTB Group UI Book" panose="020B0503040504020204" pitchFamily="34" charset="-52"/>
            </a:endParaRPr>
          </a:p>
        </p:txBody>
      </p:sp>
      <p:pic>
        <p:nvPicPr>
          <p:cNvPr id="42" name="3" descr="preencoded.png">
            <a:extLst>
              <a:ext uri="{FF2B5EF4-FFF2-40B4-BE49-F238E27FC236}">
                <a16:creationId xmlns:a16="http://schemas.microsoft.com/office/drawing/2014/main" id="{5956452E-05DA-E65F-2322-F5081F8C6D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149" b="61089"/>
          <a:stretch>
            <a:fillRect/>
          </a:stretch>
        </p:blipFill>
        <p:spPr>
          <a:xfrm>
            <a:off x="534296" y="2699707"/>
            <a:ext cx="950413" cy="707886"/>
          </a:xfrm>
          <a:prstGeom prst="rect">
            <a:avLst/>
          </a:prstGeom>
        </p:spPr>
      </p:pic>
      <p:sp>
        <p:nvSpPr>
          <p:cNvPr id="44" name="default_name">
            <a:extLst>
              <a:ext uri="{FF2B5EF4-FFF2-40B4-BE49-F238E27FC236}">
                <a16:creationId xmlns:a16="http://schemas.microsoft.com/office/drawing/2014/main" id="{E7E6CCDE-B907-46C8-D38E-E054C637D622}"/>
              </a:ext>
            </a:extLst>
          </p:cNvPr>
          <p:cNvSpPr/>
          <p:nvPr/>
        </p:nvSpPr>
        <p:spPr>
          <a:xfrm>
            <a:off x="690998" y="2852566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lang="ru-RU" sz="2400" b="1" kern="0" spc="-150">
                <a:solidFill>
                  <a:srgbClr val="FFFFFF"/>
                </a:solidFill>
                <a:latin typeface="Styrene A Bold" pitchFamily="34" charset="0"/>
                <a:ea typeface="Styrene A Bold" pitchFamily="34" charset="-122"/>
                <a:cs typeface="Styrene A Bold" pitchFamily="34" charset="-120"/>
              </a:rPr>
              <a:t>02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6695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99BD0-5940-F397-5F57-77C433D3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09F81C2-372B-AC05-AE3A-96E725C04E45}"/>
              </a:ext>
            </a:extLst>
          </p:cNvPr>
          <p:cNvSpPr txBox="1"/>
          <p:nvPr/>
        </p:nvSpPr>
        <p:spPr>
          <a:xfrm>
            <a:off x="534296" y="519363"/>
            <a:ext cx="11261464" cy="3542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Срок годности ссылки.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Нужен ли доступ после ВКС к доске участникам</a:t>
            </a:r>
            <a: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?</a:t>
            </a:r>
            <a:b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</a:b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1) Нет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2) Да, после ВКС у участника есть функция просмотра финального содержания доски в бэкапе, без прав на изменение.  </a:t>
            </a:r>
          </a:p>
          <a:p>
            <a:pPr marL="0" indent="0">
              <a:buNone/>
            </a:pPr>
            <a:b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</a:br>
            <a:endParaRPr lang="ru-RU" sz="3400">
              <a:solidFill>
                <a:srgbClr val="0B1733"/>
              </a:solidFill>
              <a:latin typeface="VTB Group UI Book" panose="020B0503040504020204" pitchFamily="34" charset="-52"/>
              <a:ea typeface="VTB Group UI Semi Bold" pitchFamily="34" charset="-122"/>
              <a:cs typeface="VTB Group UI Semi Bold" pitchFamily="34" charset="-120"/>
            </a:endParaRP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endParaRPr lang="ru-RU" sz="3400">
              <a:solidFill>
                <a:srgbClr val="0B1733"/>
              </a:solidFill>
              <a:latin typeface="VTB Group UI Book" panose="020B0503040504020204" pitchFamily="34" charset="-52"/>
            </a:endParaRPr>
          </a:p>
          <a:p>
            <a:pPr marL="0" indent="0">
              <a:buNone/>
            </a:pPr>
            <a:endParaRPr lang="en-US" sz="3400" dirty="0">
              <a:latin typeface="VTB Group UI Book" panose="020B0503040504020204" pitchFamily="34" charset="-52"/>
            </a:endParaRPr>
          </a:p>
        </p:txBody>
      </p:sp>
      <p:pic>
        <p:nvPicPr>
          <p:cNvPr id="19" name="3" descr="preencoded.png">
            <a:extLst>
              <a:ext uri="{FF2B5EF4-FFF2-40B4-BE49-F238E27FC236}">
                <a16:creationId xmlns:a16="http://schemas.microsoft.com/office/drawing/2014/main" id="{E7A78E60-36E5-9C74-1320-79B32126E6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149" b="61089"/>
          <a:stretch>
            <a:fillRect/>
          </a:stretch>
        </p:blipFill>
        <p:spPr>
          <a:xfrm>
            <a:off x="534296" y="533352"/>
            <a:ext cx="950413" cy="70788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EFA2501-846C-E456-9F8B-CEF5002D11F8}"/>
              </a:ext>
            </a:extLst>
          </p:cNvPr>
          <p:cNvSpPr/>
          <p:nvPr/>
        </p:nvSpPr>
        <p:spPr>
          <a:xfrm>
            <a:off x="690998" y="686211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lang="ru-RU" sz="2400" b="1" kern="0" spc="-150">
                <a:solidFill>
                  <a:srgbClr val="FFFFFF"/>
                </a:solidFill>
                <a:latin typeface="Styrene A Bold" pitchFamily="34" charset="0"/>
                <a:ea typeface="Styrene A Bold" pitchFamily="34" charset="-122"/>
                <a:cs typeface="Styrene A Bold" pitchFamily="34" charset="-120"/>
              </a:rPr>
              <a:t>03</a:t>
            </a:r>
            <a:endParaRPr lang="en-US" sz="240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5FAECE51-236A-A3A4-0D30-F4490135E962}"/>
              </a:ext>
            </a:extLst>
          </p:cNvPr>
          <p:cNvSpPr txBox="1"/>
          <p:nvPr/>
        </p:nvSpPr>
        <p:spPr>
          <a:xfrm>
            <a:off x="534296" y="4092572"/>
            <a:ext cx="11261464" cy="389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Личное пространство. 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highlight>
                  <a:srgbClr val="FF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Необходимо ли предусмотреть копирование доски в личное пространство</a:t>
            </a:r>
            <a:r>
              <a:rPr lang="en-US" sz="3400">
                <a:solidFill>
                  <a:srgbClr val="0B1733"/>
                </a:solidFill>
                <a:highlight>
                  <a:srgbClr val="FF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? </a:t>
            </a:r>
            <a:r>
              <a:rPr lang="ru-RU" sz="3400">
                <a:solidFill>
                  <a:srgbClr val="0B1733"/>
                </a:solidFill>
                <a:highlight>
                  <a:srgbClr val="FF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Там уже есть возможность изменять личную копию.</a:t>
            </a:r>
            <a:endParaRPr lang="ru-RU" sz="340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VTB Group UI Book" panose="020B0503040504020204" pitchFamily="34" charset="-52"/>
              <a:ea typeface="VTB Group UI Semi Bold" pitchFamily="34" charset="-122"/>
              <a:cs typeface="VTB Group UI Semi Bold" pitchFamily="34" charset="-120"/>
            </a:endParaRP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endParaRPr lang="ru-RU" sz="3400">
              <a:solidFill>
                <a:srgbClr val="0B1733"/>
              </a:solidFill>
              <a:latin typeface="VTB Group UI Book" panose="020B0503040504020204" pitchFamily="34" charset="-52"/>
            </a:endParaRPr>
          </a:p>
          <a:p>
            <a:pPr marL="0" indent="0">
              <a:buNone/>
            </a:pPr>
            <a:endParaRPr lang="en-US" sz="3400" dirty="0">
              <a:latin typeface="VTB Group UI Book" panose="020B0503040504020204" pitchFamily="34" charset="-52"/>
            </a:endParaRPr>
          </a:p>
        </p:txBody>
      </p:sp>
      <p:pic>
        <p:nvPicPr>
          <p:cNvPr id="42" name="3" descr="preencoded.png">
            <a:extLst>
              <a:ext uri="{FF2B5EF4-FFF2-40B4-BE49-F238E27FC236}">
                <a16:creationId xmlns:a16="http://schemas.microsoft.com/office/drawing/2014/main" id="{48931F49-4AA6-D283-21DC-73CB857936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149" b="61089"/>
          <a:stretch>
            <a:fillRect/>
          </a:stretch>
        </p:blipFill>
        <p:spPr>
          <a:xfrm>
            <a:off x="534296" y="4106561"/>
            <a:ext cx="950413" cy="707886"/>
          </a:xfrm>
          <a:prstGeom prst="rect">
            <a:avLst/>
          </a:prstGeom>
        </p:spPr>
      </p:pic>
      <p:sp>
        <p:nvSpPr>
          <p:cNvPr id="44" name="default_name">
            <a:extLst>
              <a:ext uri="{FF2B5EF4-FFF2-40B4-BE49-F238E27FC236}">
                <a16:creationId xmlns:a16="http://schemas.microsoft.com/office/drawing/2014/main" id="{7734761B-8214-794D-1DE5-5BDB7C1CCA61}"/>
              </a:ext>
            </a:extLst>
          </p:cNvPr>
          <p:cNvSpPr/>
          <p:nvPr/>
        </p:nvSpPr>
        <p:spPr>
          <a:xfrm>
            <a:off x="690998" y="4259420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lang="ru-RU" sz="2400" b="1" kern="0" spc="-150">
                <a:solidFill>
                  <a:srgbClr val="FFFFFF"/>
                </a:solidFill>
                <a:latin typeface="Styrene A Bold" pitchFamily="34" charset="0"/>
                <a:ea typeface="Styrene A Bold" pitchFamily="34" charset="-122"/>
                <a:cs typeface="Styrene A Bold" pitchFamily="34" charset="-120"/>
              </a:rPr>
              <a:t>04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91268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1BCA0-972F-976A-E325-772CE074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CBF5515-6C19-37B9-C8B1-66CC532CDFBA}"/>
              </a:ext>
            </a:extLst>
          </p:cNvPr>
          <p:cNvSpPr txBox="1"/>
          <p:nvPr/>
        </p:nvSpPr>
        <p:spPr>
          <a:xfrm>
            <a:off x="534296" y="519362"/>
            <a:ext cx="11261464" cy="591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Доступ внутри контура или только внешний.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Компромис с доступом из обоих контуров не возможен.</a:t>
            </a:r>
            <a:b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</a:b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1)Только внешний</a:t>
            </a:r>
            <a: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: 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Дежурные ведут ВКС через свои устройства без </a:t>
            </a:r>
            <a: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VPN? 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Сотрудники подключаются к ВКС с своих устройств (требуется анализ). </a:t>
            </a: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2)Только внутри контора</a:t>
            </a:r>
            <a:r>
              <a:rPr lang="en-US" sz="3400">
                <a:solidFill>
                  <a:srgbClr val="0B1733"/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:</a:t>
            </a:r>
            <a:r>
              <a:rPr lang="ru-RU" sz="3400">
                <a:solidFill>
                  <a:srgbClr val="0B1733"/>
                </a:solidFill>
                <a:highlight>
                  <a:srgbClr val="00FF00"/>
                </a:highlight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 Полноценная интеграция с Оповещатором. Доступ к доске необходим не всем, преимущественно дежурным для сопровождения ВКС.</a:t>
            </a:r>
          </a:p>
          <a:p>
            <a:pPr marL="0" indent="0">
              <a:buNone/>
            </a:pPr>
            <a:b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</a:br>
            <a:endParaRPr lang="ru-RU" sz="3400">
              <a:solidFill>
                <a:srgbClr val="0B1733"/>
              </a:solidFill>
              <a:latin typeface="VTB Group UI Book" panose="020B0503040504020204" pitchFamily="34" charset="-52"/>
              <a:ea typeface="VTB Group UI Semi Bold" pitchFamily="34" charset="-122"/>
              <a:cs typeface="VTB Group UI Semi Bold" pitchFamily="34" charset="-120"/>
            </a:endParaRPr>
          </a:p>
          <a:p>
            <a:pPr marL="0" indent="0">
              <a:buNone/>
            </a:pP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	</a:t>
            </a:r>
            <a:endParaRPr lang="ru-RU" sz="3400">
              <a:solidFill>
                <a:srgbClr val="0B1733"/>
              </a:solidFill>
              <a:latin typeface="VTB Group UI Book" panose="020B0503040504020204" pitchFamily="34" charset="-52"/>
            </a:endParaRPr>
          </a:p>
          <a:p>
            <a:pPr marL="0" indent="0">
              <a:buNone/>
            </a:pPr>
            <a:endParaRPr lang="en-US" sz="3400" dirty="0">
              <a:latin typeface="VTB Group UI Book" panose="020B0503040504020204" pitchFamily="34" charset="-52"/>
            </a:endParaRPr>
          </a:p>
        </p:txBody>
      </p:sp>
      <p:pic>
        <p:nvPicPr>
          <p:cNvPr id="19" name="3" descr="preencoded.png">
            <a:extLst>
              <a:ext uri="{FF2B5EF4-FFF2-40B4-BE49-F238E27FC236}">
                <a16:creationId xmlns:a16="http://schemas.microsoft.com/office/drawing/2014/main" id="{340CC98B-7B9B-3C4C-8D72-FBDD7F5F79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149" b="61089"/>
          <a:stretch>
            <a:fillRect/>
          </a:stretch>
        </p:blipFill>
        <p:spPr>
          <a:xfrm>
            <a:off x="534296" y="533352"/>
            <a:ext cx="950413" cy="70788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49BF0672-14DD-971D-551D-3E1286D0AD80}"/>
              </a:ext>
            </a:extLst>
          </p:cNvPr>
          <p:cNvSpPr/>
          <p:nvPr/>
        </p:nvSpPr>
        <p:spPr>
          <a:xfrm>
            <a:off x="690998" y="686211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r>
              <a:rPr lang="ru-RU" sz="2400" b="1" kern="0" spc="-150">
                <a:solidFill>
                  <a:srgbClr val="FFFFFF"/>
                </a:solidFill>
                <a:latin typeface="Styrene A Bold" pitchFamily="34" charset="0"/>
                <a:ea typeface="Styrene A Bold" pitchFamily="34" charset="-122"/>
                <a:cs typeface="Styrene A Bold" pitchFamily="34" charset="-120"/>
              </a:rPr>
              <a:t>05</a:t>
            </a:r>
            <a:endParaRPr lang="en-US" sz="2400"/>
          </a:p>
        </p:txBody>
      </p:sp>
      <p:sp>
        <p:nvSpPr>
          <p:cNvPr id="44" name="default_name">
            <a:extLst>
              <a:ext uri="{FF2B5EF4-FFF2-40B4-BE49-F238E27FC236}">
                <a16:creationId xmlns:a16="http://schemas.microsoft.com/office/drawing/2014/main" id="{1B6E22D4-50B7-5574-DADA-57F4C710405F}"/>
              </a:ext>
            </a:extLst>
          </p:cNvPr>
          <p:cNvSpPr/>
          <p:nvPr/>
        </p:nvSpPr>
        <p:spPr>
          <a:xfrm>
            <a:off x="690998" y="4259420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spcAft>
                <a:spcPts val="1800"/>
              </a:spcAft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54128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55320" y="274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400" dirty="0"/>
          </a:p>
        </p:txBody>
      </p:sp>
      <p:pic>
        <p:nvPicPr>
          <p:cNvPr id="5" name="Image 0" descr="/tmp/claude-0/-home-claude/3e2c67bf-185e-57a7-b169-f73d7abaeeba/scratchpad/flow/deck2/hol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568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40E426-526A-F00C-6B71-8372EEB4D5EA}"/>
              </a:ext>
            </a:extLst>
          </p:cNvPr>
          <p:cNvSpPr txBox="1"/>
          <p:nvPr/>
        </p:nvSpPr>
        <p:spPr>
          <a:xfrm>
            <a:off x="1" y="5529559"/>
            <a:ext cx="121919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8000">
                <a:solidFill>
                  <a:srgbClr val="0B1733"/>
                </a:solidFill>
                <a:latin typeface="VTB Group UI Semi Bold" pitchFamily="34" charset="0"/>
              </a:rPr>
              <a:t>Аналог</a:t>
            </a:r>
            <a:r>
              <a:rPr lang="en-US" sz="8000">
                <a:solidFill>
                  <a:srgbClr val="0B1733"/>
                </a:solidFill>
                <a:latin typeface="VTB Group UI Semi Bold" pitchFamily="34" charset="0"/>
              </a:rPr>
              <a:t>#1 Holst</a:t>
            </a:r>
            <a:endParaRPr lang="en-US" sz="8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29D1-6730-6FED-67C7-A311CE6A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B7CAC6B-C46B-89C4-2765-FA4CB113F8FB}"/>
              </a:ext>
            </a:extLst>
          </p:cNvPr>
          <p:cNvSpPr txBox="1"/>
          <p:nvPr/>
        </p:nvSpPr>
        <p:spPr>
          <a:xfrm>
            <a:off x="655320" y="274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400" dirty="0"/>
          </a:p>
        </p:txBody>
      </p:sp>
      <p:pic>
        <p:nvPicPr>
          <p:cNvPr id="8" name="Image 1" descr="/tmp/claude-0/-home-claude/3e2c67bf-185e-57a7-b169-f73d7abaeeba/scratchpad/flow/deck2/miro.png">
            <a:extLst>
              <a:ext uri="{FF2B5EF4-FFF2-40B4-BE49-F238E27FC236}">
                <a16:creationId xmlns:a16="http://schemas.microsoft.com/office/drawing/2014/main" id="{A7FA4C60-B0FB-D700-2FE1-F17BE6B7B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20774" cy="5582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506A6A-4E49-1190-C714-766A15A6D0F3}"/>
              </a:ext>
            </a:extLst>
          </p:cNvPr>
          <p:cNvSpPr txBox="1"/>
          <p:nvPr/>
        </p:nvSpPr>
        <p:spPr>
          <a:xfrm>
            <a:off x="1" y="5529559"/>
            <a:ext cx="121919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8000">
                <a:solidFill>
                  <a:srgbClr val="0B1733"/>
                </a:solidFill>
                <a:latin typeface="VTB Group UI Semi Bold" pitchFamily="34" charset="0"/>
              </a:rPr>
              <a:t>Аналог</a:t>
            </a:r>
            <a:r>
              <a:rPr lang="en-US" sz="8000">
                <a:solidFill>
                  <a:srgbClr val="0B1733"/>
                </a:solidFill>
                <a:latin typeface="VTB Group UI Semi Bold" pitchFamily="34" charset="0"/>
              </a:rPr>
              <a:t>#2 Miro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904169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C0BB-5582-DD07-CD76-97CA45AE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559BB4B-8A00-7E19-C9BE-DE483CE0625A}"/>
              </a:ext>
            </a:extLst>
          </p:cNvPr>
          <p:cNvSpPr txBox="1"/>
          <p:nvPr/>
        </p:nvSpPr>
        <p:spPr>
          <a:xfrm>
            <a:off x="655320" y="274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22D59-478C-77C1-BB90-41735B4AED69}"/>
              </a:ext>
            </a:extLst>
          </p:cNvPr>
          <p:cNvSpPr txBox="1"/>
          <p:nvPr/>
        </p:nvSpPr>
        <p:spPr>
          <a:xfrm>
            <a:off x="1228946" y="5519555"/>
            <a:ext cx="99352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8000">
                <a:solidFill>
                  <a:srgbClr val="0B1733"/>
                </a:solidFill>
                <a:latin typeface="VTB Group UI Semi Bold" pitchFamily="34" charset="0"/>
              </a:rPr>
              <a:t>Инструментарий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398140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B874E-0C9B-DFFD-C372-9B37A6694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tmp/claude-0/-home-claude/3e2c67bf-185e-57a7-b169-f73d7abaeeba/scratchpad/flow/deck2/before-3.png">
            <a:extLst>
              <a:ext uri="{FF2B5EF4-FFF2-40B4-BE49-F238E27FC236}">
                <a16:creationId xmlns:a16="http://schemas.microsoft.com/office/drawing/2014/main" id="{00D39074-AF5D-8F14-A476-B064EB9D9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17" y="1147360"/>
            <a:ext cx="9664566" cy="54363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981618-50F0-95D3-CECD-585F1FD365D4}"/>
              </a:ext>
            </a:extLst>
          </p:cNvPr>
          <p:cNvSpPr txBox="1"/>
          <p:nvPr/>
        </p:nvSpPr>
        <p:spPr>
          <a:xfrm>
            <a:off x="993044" y="43788"/>
            <a:ext cx="99352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0">
                <a:solidFill>
                  <a:srgbClr val="0B1733"/>
                </a:solidFill>
                <a:latin typeface="VTB Group UI Semi Bold" pitchFamily="34" charset="0"/>
              </a:rPr>
              <a:t>AS IS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719183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65760" y="274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TO BE </a:t>
            </a:r>
            <a:r>
              <a:rPr lang="en-US" sz="36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#</a:t>
            </a:r>
            <a:r>
              <a:rPr lang="ru-RU" sz="36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1</a:t>
            </a:r>
            <a:r>
              <a:rPr lang="en-US" sz="36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:</a:t>
            </a:r>
            <a:r>
              <a:rPr lang="en-US" sz="36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 </a:t>
            </a:r>
            <a:r>
              <a:rPr lang="ru-RU" sz="36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«Включить переключатель рядом с быстрым набором»</a:t>
            </a:r>
            <a:endParaRPr lang="en-US" sz="3600" dirty="0">
              <a:latin typeface="VTB Group UI Book" panose="020B0503040504020204" pitchFamily="34" charset="-52"/>
            </a:endParaRPr>
          </a:p>
        </p:txBody>
      </p:sp>
      <p:pic>
        <p:nvPicPr>
          <p:cNvPr id="5" name="Image 0" descr="/tmp/claude-0/-home-claude/3e2c67bf-185e-57a7-b169-f73d7abaeeba/scratchpad/flow/deck2/concept-1.png"/>
          <p:cNvPicPr>
            <a:picLocks noChangeAspect="1"/>
          </p:cNvPicPr>
          <p:nvPr/>
        </p:nvPicPr>
        <p:blipFill>
          <a:blip r:embed="rId3"/>
          <a:srcRect b="15907"/>
          <a:stretch>
            <a:fillRect/>
          </a:stretch>
        </p:blipFill>
        <p:spPr>
          <a:xfrm>
            <a:off x="235307" y="1414914"/>
            <a:ext cx="11721385" cy="54430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EEE6-8B5C-789A-9314-4FE5FFC0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73F64CB-706E-895C-8132-197B0E2C9F79}"/>
              </a:ext>
            </a:extLst>
          </p:cNvPr>
          <p:cNvSpPr txBox="1"/>
          <p:nvPr/>
        </p:nvSpPr>
        <p:spPr>
          <a:xfrm>
            <a:off x="655320" y="274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TO BE </a:t>
            </a:r>
            <a:r>
              <a:rPr lang="en-US" sz="36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#</a:t>
            </a:r>
            <a:r>
              <a:rPr lang="ru-RU" sz="36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2</a:t>
            </a:r>
            <a:r>
              <a:rPr lang="en-US" sz="36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:</a:t>
            </a:r>
            <a:r>
              <a:rPr lang="en-US" sz="36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 </a:t>
            </a:r>
            <a:r>
              <a:rPr lang="ru-RU" sz="36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«Вместе с ВКС и Доска»</a:t>
            </a:r>
            <a:endParaRPr lang="en-US" sz="3600" dirty="0">
              <a:latin typeface="VTB Group UI Book" panose="020B0503040504020204" pitchFamily="34" charset="-52"/>
            </a:endParaRPr>
          </a:p>
        </p:txBody>
      </p:sp>
      <p:pic>
        <p:nvPicPr>
          <p:cNvPr id="5" name="Image 2" descr="/tmp/claude-0/-home-claude/3e2c67bf-185e-57a7-b169-f73d7abaeeba/scratchpad/flow/deck2/concept-3.png">
            <a:extLst>
              <a:ext uri="{FF2B5EF4-FFF2-40B4-BE49-F238E27FC236}">
                <a16:creationId xmlns:a16="http://schemas.microsoft.com/office/drawing/2014/main" id="{0635F28D-53C1-EC1A-2522-EE8452B64A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114"/>
          <a:stretch>
            <a:fillRect/>
          </a:stretch>
        </p:blipFill>
        <p:spPr>
          <a:xfrm>
            <a:off x="235305" y="1166757"/>
            <a:ext cx="11726725" cy="569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49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08CE-262B-604C-7420-CF88A21B2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C6C4F66-8E71-A46C-472B-E23022C9FCC8}"/>
              </a:ext>
            </a:extLst>
          </p:cNvPr>
          <p:cNvSpPr txBox="1"/>
          <p:nvPr/>
        </p:nvSpPr>
        <p:spPr>
          <a:xfrm>
            <a:off x="644090" y="274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TO BE </a:t>
            </a:r>
            <a:r>
              <a:rPr lang="en-US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#</a:t>
            </a:r>
            <a:r>
              <a:rPr lang="ru-RU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3</a:t>
            </a:r>
            <a:r>
              <a:rPr lang="en-US" sz="3400">
                <a:solidFill>
                  <a:srgbClr val="0B1733"/>
                </a:solidFill>
                <a:latin typeface="VTB Group UI Semi Bold" panose="020B0603050504020204" pitchFamily="34" charset="-52"/>
                <a:ea typeface="VTB Group UI Semi Bold" pitchFamily="34" charset="-122"/>
                <a:cs typeface="VTB Group UI Semi Bold" pitchFamily="34" charset="-120"/>
              </a:rPr>
              <a:t>:</a:t>
            </a:r>
            <a: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 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«Контекст </a:t>
            </a:r>
            <a:r>
              <a:rPr lang="en-US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INC/</a:t>
            </a:r>
            <a:r>
              <a:rPr lang="ru-RU" sz="3400">
                <a:solidFill>
                  <a:srgbClr val="0B1733"/>
                </a:solidFill>
                <a:latin typeface="VTB Group UI Book" panose="020B0503040504020204" pitchFamily="34" charset="-52"/>
                <a:ea typeface="VTB Group UI Semi Bold" pitchFamily="34" charset="-122"/>
                <a:cs typeface="VTB Group UI Semi Bold" pitchFamily="34" charset="-120"/>
              </a:rPr>
              <a:t>Аварии на доске»</a:t>
            </a:r>
            <a:endParaRPr lang="en-US" sz="3400" dirty="0">
              <a:latin typeface="VTB Group UI Book" panose="020B0503040504020204" pitchFamily="34" charset="-52"/>
            </a:endParaRPr>
          </a:p>
        </p:txBody>
      </p:sp>
      <p:pic>
        <p:nvPicPr>
          <p:cNvPr id="4" name="Image 3" descr="/tmp/claude-0/-home-claude/3e2c67bf-185e-57a7-b169-f73d7abaeeba/scratchpad/flow/deck2/concept-4.png">
            <a:extLst>
              <a:ext uri="{FF2B5EF4-FFF2-40B4-BE49-F238E27FC236}">
                <a16:creationId xmlns:a16="http://schemas.microsoft.com/office/drawing/2014/main" id="{5E41B723-D6AA-D336-BA81-3DA06C160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90" y="849124"/>
            <a:ext cx="10881360" cy="600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29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5AD0C-DE16-7845-93A2-10B69CD5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550A58-FFC6-43B0-1AE1-7EE47A016410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Техническое Задание (ТЗ)</a:t>
            </a:r>
            <a:endParaRPr lang="ru-RU" sz="320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36205F3-E636-C5C8-6F4F-599DB0F79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330518"/>
              </p:ext>
            </p:extLst>
          </p:nvPr>
        </p:nvGraphicFramePr>
        <p:xfrm>
          <a:off x="534295" y="1453313"/>
          <a:ext cx="11261464" cy="214847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630732">
                  <a:extLst>
                    <a:ext uri="{9D8B030D-6E8A-4147-A177-3AD203B41FA5}">
                      <a16:colId xmlns:a16="http://schemas.microsoft.com/office/drawing/2014/main" val="1316740329"/>
                    </a:ext>
                  </a:extLst>
                </a:gridCol>
                <a:gridCol w="5630732">
                  <a:extLst>
                    <a:ext uri="{9D8B030D-6E8A-4147-A177-3AD203B41FA5}">
                      <a16:colId xmlns:a16="http://schemas.microsoft.com/office/drawing/2014/main" val="3952294350"/>
                    </a:ext>
                  </a:extLst>
                </a:gridCol>
              </a:tblGrid>
              <a:tr h="481813"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Этап</a:t>
                      </a:r>
                    </a:p>
                  </a:txBody>
                  <a:tcPr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Ориентировочный срок</a:t>
                      </a:r>
                    </a:p>
                  </a:txBody>
                  <a:tcPr>
                    <a:solidFill>
                      <a:srgbClr val="00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080250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endParaRPr lang="ru-RU"/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159448"/>
                  </a:ext>
                </a:extLst>
              </a:tr>
              <a:tr h="833330">
                <a:tc>
                  <a:txBody>
                    <a:bodyPr/>
                    <a:lstStyle/>
                    <a:p>
                      <a:pPr algn="l"/>
                      <a:endParaRPr lang="ru-RU"/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0479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92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5D8A-0425-18FD-2B09-78269982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420DB7-428A-087E-F7B4-37F51F4AA3CF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Техническое Задание (ТЗ)</a:t>
            </a:r>
            <a:endParaRPr lang="ru-RU" sz="3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1D8700-BF99-43E2-2B69-0EB16CB699CC}"/>
              </a:ext>
            </a:extLst>
          </p:cNvPr>
          <p:cNvSpPr txBox="1"/>
          <p:nvPr/>
        </p:nvSpPr>
        <p:spPr>
          <a:xfrm>
            <a:off x="706543" y="1590905"/>
            <a:ext cx="1091696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1)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   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Составление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| 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Анализ требований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</a:t>
            </a:r>
            <a:endParaRPr lang="ru-RU" sz="3600">
              <a:solidFill>
                <a:schemeClr val="tx1">
                  <a:lumMod val="95000"/>
                  <a:lumOff val="5000"/>
                </a:schemeClr>
              </a:solidFill>
              <a:latin typeface="VTB Group UI Semi Bold" panose="020B0603050504020204" pitchFamily="34" charset="-52"/>
            </a:endParaRPr>
          </a:p>
          <a:p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      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1.1)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Описание функциональных требований</a:t>
            </a:r>
          </a:p>
          <a:p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      1.2) Описание нефункциональных требований</a:t>
            </a:r>
            <a:endParaRPr lang="ru-RU" sz="3600">
              <a:solidFill>
                <a:schemeClr val="tx1">
                  <a:lumMod val="95000"/>
                  <a:lumOff val="5000"/>
                </a:schemeClr>
              </a:solidFill>
              <a:latin typeface="VTB Group UI Semi Bold" panose="020B0603050504020204" pitchFamily="34" charset="-52"/>
            </a:endParaRPr>
          </a:p>
          <a:p>
            <a:pPr marL="742950" indent="-742950">
              <a:buAutoNum type="arabicParenR" startAt="2"/>
            </a:pP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Проектирование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:</a:t>
            </a:r>
          </a:p>
          <a:p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      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2.1) Создание 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UI Kit’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а в 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Figma</a:t>
            </a:r>
            <a:b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</a:b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      2.2) Описание сценариев пользовательских маршрутов (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User Flow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)</a:t>
            </a:r>
            <a:b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</a:b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      2.3) Макетирование 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User Flow</a:t>
            </a:r>
            <a:endParaRPr lang="ru-RU" sz="3600">
              <a:solidFill>
                <a:schemeClr val="tx1">
                  <a:lumMod val="95000"/>
                  <a:lumOff val="5000"/>
                </a:schemeClr>
              </a:solidFill>
              <a:latin typeface="VTB Group UI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53208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AFE1F-3FAD-07A7-82C1-834F8EA4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951945-F5D0-03D7-34C9-CECA94B4F551}"/>
              </a:ext>
            </a:extLst>
          </p:cNvPr>
          <p:cNvSpPr txBox="1"/>
          <p:nvPr/>
        </p:nvSpPr>
        <p:spPr>
          <a:xfrm>
            <a:off x="534296" y="404705"/>
            <a:ext cx="11261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>
                <a:solidFill>
                  <a:srgbClr val="0B1733"/>
                </a:solidFill>
                <a:latin typeface="VTB Group UI Semi Bold" pitchFamily="34" charset="0"/>
                <a:ea typeface="VTB Group UI Semi Bold" pitchFamily="34" charset="-122"/>
                <a:cs typeface="VTB Group UI Semi Bold" pitchFamily="34" charset="-120"/>
              </a:rPr>
              <a:t>Техническое Задание (ТЗ)</a:t>
            </a:r>
            <a:endParaRPr lang="ru-RU" sz="3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3D92DA-4BAC-6572-FBA7-8DDB8FBB48C4}"/>
              </a:ext>
            </a:extLst>
          </p:cNvPr>
          <p:cNvSpPr txBox="1"/>
          <p:nvPr/>
        </p:nvSpPr>
        <p:spPr>
          <a:xfrm>
            <a:off x="706543" y="1590905"/>
            <a:ext cx="109169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3600">
              <a:solidFill>
                <a:schemeClr val="tx1">
                  <a:lumMod val="95000"/>
                  <a:lumOff val="5000"/>
                </a:schemeClr>
              </a:solidFill>
              <a:latin typeface="VTB Group UI Semi Bold" panose="020B0603050504020204" pitchFamily="34" charset="-52"/>
            </a:endParaRPr>
          </a:p>
          <a:p>
            <a:pPr marL="742950" indent="-742950">
              <a:buFont typeface="+mj-lt"/>
              <a:buAutoNum type="arabicParenR" startAt="3"/>
            </a:pP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Разработка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:</a:t>
            </a:r>
          </a:p>
          <a:p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       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3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.1) Создание кастомной библитеки 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UI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-компонентов в 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React</a:t>
            </a:r>
            <a:b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</a:b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      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3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.2)</a:t>
            </a:r>
            <a:r>
              <a:rPr lang="en-US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 </a:t>
            </a:r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Book" panose="020B0503040504020204" pitchFamily="34" charset="-52"/>
              </a:rPr>
              <a:t>Развертка тестового стенда</a:t>
            </a:r>
          </a:p>
          <a:p>
            <a:endParaRPr lang="ru-RU" sz="3600">
              <a:solidFill>
                <a:schemeClr val="tx1">
                  <a:lumMod val="95000"/>
                  <a:lumOff val="5000"/>
                </a:schemeClr>
              </a:solidFill>
              <a:latin typeface="VTB Group UI Book" panose="020B0503040504020204" pitchFamily="34" charset="-52"/>
            </a:endParaRPr>
          </a:p>
          <a:p>
            <a:r>
              <a:rPr lang="ru-RU" sz="3600">
                <a:solidFill>
                  <a:schemeClr val="tx1">
                    <a:lumMod val="95000"/>
                    <a:lumOff val="5000"/>
                  </a:schemeClr>
                </a:solidFill>
                <a:latin typeface="VTB Group UI Semi Bold" panose="020B0603050504020204" pitchFamily="34" charset="-52"/>
              </a:rPr>
              <a:t>4) …</a:t>
            </a:r>
          </a:p>
        </p:txBody>
      </p:sp>
    </p:spTree>
    <p:extLst>
      <p:ext uri="{BB962C8B-B14F-4D97-AF65-F5344CB8AC3E}">
        <p14:creationId xmlns:p14="http://schemas.microsoft.com/office/powerpoint/2010/main" val="380872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636</Words>
  <Application>Microsoft Office PowerPoint</Application>
  <PresentationFormat>Широкоэкранный</PresentationFormat>
  <Paragraphs>102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Styrene A Bold</vt:lpstr>
      <vt:lpstr>VTB Group UI Book</vt:lpstr>
      <vt:lpstr>VTB Group UI Semi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Рабочая доска для разбора аварий</dc:title>
  <dc:subject>PptxGenJS Presentation</dc:subject>
  <dc:creator>PptxGenJS</dc:creator>
  <cp:lastModifiedBy>Михаил</cp:lastModifiedBy>
  <cp:revision>51</cp:revision>
  <dcterms:created xsi:type="dcterms:W3CDTF">2026-10-23T08:46:36Z</dcterms:created>
  <dcterms:modified xsi:type="dcterms:W3CDTF">2026-10-23T12:18:35Z</dcterms:modified>
</cp:coreProperties>
</file>