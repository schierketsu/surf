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84" r:id="rId2"/>
    <p:sldId id="272" r:id="rId3"/>
    <p:sldId id="281" r:id="rId4"/>
    <p:sldId id="282" r:id="rId5"/>
    <p:sldId id="260" r:id="rId6"/>
    <p:sldId id="271" r:id="rId7"/>
    <p:sldId id="276" r:id="rId8"/>
    <p:sldId id="283" r:id="rId9"/>
    <p:sldId id="258" r:id="rId10"/>
    <p:sldId id="273" r:id="rId11"/>
    <p:sldId id="274" r:id="rId12"/>
    <p:sldId id="266" r:id="rId13"/>
    <p:sldId id="261" r:id="rId14"/>
    <p:sldId id="269" r:id="rId15"/>
    <p:sldId id="270" r:id="rId16"/>
    <p:sldId id="277" r:id="rId17"/>
    <p:sldId id="280" r:id="rId1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62FF"/>
    <a:srgbClr val="EBEB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Светлый стиль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017" autoAdjust="0"/>
    <p:restoredTop sz="94610"/>
  </p:normalViewPr>
  <p:slideViewPr>
    <p:cSldViewPr snapToGrid="0" snapToObjects="1">
      <p:cViewPr>
        <p:scale>
          <a:sx n="50" d="100"/>
          <a:sy n="50" d="100"/>
        </p:scale>
        <p:origin x="1396" y="3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399009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8D4C18-5F45-60C8-7DF3-0F49F9BE56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D23026-4821-EA63-F12B-6968235057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6C95B1-4D4D-E7F4-4D5D-DB44DF572B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579E9C-4274-E0F4-7120-ED8BF0BE4AB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80491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D28139-928B-516C-F2B0-687D31EAF8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C05F6D-76D1-6002-C12B-57937679E4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37B622-CE58-2063-6F6B-20823F0347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D36C69-53F3-C324-E35C-C263D50400D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86249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A8A646-83D3-6137-639E-AB434458F2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32BF91-8DE5-266C-FDDC-C838C67607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6FAF71-BD4F-3546-F141-C677493203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6C1802-43CE-4D4E-BBD9-985ABCB22AE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356644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3FD64B-62E3-219F-AF78-648B6006B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A725900-BBB0-7F9C-25BF-F266D34EFE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C2328A-2367-3398-23DE-D755CB7E5D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050A16-B4D4-D754-D931-3F9BEFF3359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495016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A487C9-28E1-507F-AA0D-E299966165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814F06-AC2C-1875-2491-B3AE263B7F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AD3071-227A-958A-9818-1D1668DEEA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316DB1-EFE5-D446-E76B-866E6D91544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558235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4B4D0E-0AF7-446B-D268-9012386CF5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0F0B2-1C09-F904-B30C-0548DFB5F3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6E8495-F3AB-CDF6-AE9D-2426F7EADA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591BDC-F104-837A-9221-9192AAE579C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647913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D3E5E7-87A8-EA17-A813-26A6D34137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2EC80B-12B2-C8D2-3A2F-656615461F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B829CA-9281-B61E-1F00-FFE6266442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361C08-1D13-263E-D510-38449CA198E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931319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C393F0-E5B8-CC63-F264-85348BE2BC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2E591F0-5A46-372F-8B3E-9DFD07AB5D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50C544-5180-D698-7F37-1CD1DBCE7B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2A9FB7-B8FF-08C5-49BC-127FEA34F2E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784862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5F0F1A-9CCE-1824-04E1-79BBF85BDA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409617-EDB5-B8FB-5505-1EDBF335B9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C75F8A-1A39-8BD3-44A1-AD1B5C0E8F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F82B2E-C99C-7C0D-15FE-30E56C6761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284197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E4EA89-9726-02E3-19FC-89B76E8C45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5D5C08-AF93-3C36-9A4F-F6C4C600A4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60C5BF-8B5B-D54B-9E5C-3CACDE4EC9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A50635-B667-AA58-8E5B-1DC78B82A80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126946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4727AF-46CD-B55E-D1E3-16CAF5E0A1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EE1BEA6-0942-D25A-093E-B0A50541DF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258C0C-9DD9-69CF-0CD6-7E4C3EFF40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542F20-6E5A-ECF4-52C4-D7EB324B469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344761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8294BC-27D5-D808-B762-EA4E400C3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77FD73-D039-B527-004A-8CACA6B2D1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CB778D-662B-5B68-D3A7-B049CE85C2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BF7815-7956-DD34-CB97-213E61E4A19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641636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85E994-20B8-3F11-E74B-723F8FE8E7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642160-203F-5EBF-9558-25DBF1A5D3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732240-FE49-80E0-CB62-5F4E435860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CFDCA8-7D70-530A-29F8-3B5FC23B1F0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810544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712C30-82C5-71ED-C888-8B7C6D9F5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4A34F9E-8D50-DE92-6735-7B08A11A13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400DBE-AD42-35B0-253D-E00D863D2C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4421AD-47C0-5937-6EFF-5EAE1F3CD31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33107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B17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B8A"/>
                </a:solidFill>
                <a:latin typeface="VTB Group UI Book"/>
                <a:ea typeface="VTB Group UI Book"/>
                <a:cs typeface="VTB Group UI Book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4B5"/>
                </a:solidFill>
                <a:latin typeface="VTB Group UI Book"/>
                <a:ea typeface="VTB Group UI Book"/>
                <a:cs typeface="VTB Group UI Book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B8A"/>
                </a:solidFill>
                <a:latin typeface="VTB Group UI Book"/>
                <a:ea typeface="VTB Group UI Book"/>
                <a:cs typeface="VTB Group UI Book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lck.ru/3WcFW7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62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BEA6C72-C0EB-3DEB-D970-9E6AA5D70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TextBox 59">
            <a:extLst>
              <a:ext uri="{FF2B5EF4-FFF2-40B4-BE49-F238E27FC236}">
                <a16:creationId xmlns:a16="http://schemas.microsoft.com/office/drawing/2014/main" id="{C175A081-3F76-6358-8C3A-A92B18E316F2}"/>
              </a:ext>
            </a:extLst>
          </p:cNvPr>
          <p:cNvSpPr txBox="1"/>
          <p:nvPr/>
        </p:nvSpPr>
        <p:spPr>
          <a:xfrm>
            <a:off x="233622" y="306340"/>
            <a:ext cx="241498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3600">
                <a:solidFill>
                  <a:schemeClr val="bg1"/>
                </a:solidFill>
                <a:latin typeface="VTB Group UI Semi Bold" panose="020B0603050504020204" pitchFamily="34" charset="-52"/>
              </a:rPr>
              <a:t>Links:</a:t>
            </a:r>
            <a:endParaRPr lang="en-US" sz="3600" dirty="0">
              <a:solidFill>
                <a:schemeClr val="bg1"/>
              </a:solidFill>
              <a:latin typeface="VTB Group UI Semi Bold" panose="020B0603050504020204" pitchFamily="34" charset="-5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9F0B69A-4B4E-11EF-7139-F28DA9507C3F}"/>
              </a:ext>
            </a:extLst>
          </p:cNvPr>
          <p:cNvSpPr txBox="1"/>
          <p:nvPr/>
        </p:nvSpPr>
        <p:spPr>
          <a:xfrm>
            <a:off x="233622" y="908527"/>
            <a:ext cx="1106920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3600">
                <a:solidFill>
                  <a:schemeClr val="bg1"/>
                </a:solidFill>
                <a:latin typeface="VTB Group UI Book" panose="020B0503040504020204" pitchFamily="34" charset="-52"/>
              </a:rPr>
              <a:t>1) </a:t>
            </a:r>
            <a:r>
              <a:rPr lang="en-US" sz="3600">
                <a:solidFill>
                  <a:schemeClr val="bg1"/>
                </a:solidFill>
                <a:latin typeface="VTB Group UI Book" panose="020B0503040504020204" pitchFamily="34" charset="-5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https://clck.ru/3WcFW7</a:t>
            </a:r>
            <a:r>
              <a:rPr lang="en-US" sz="3600">
                <a:solidFill>
                  <a:schemeClr val="bg1"/>
                </a:solidFill>
                <a:latin typeface="VTB Group UI Book" panose="020B0503040504020204" pitchFamily="34" charset="-52"/>
              </a:rPr>
              <a:t> - UI Kit + User Flow </a:t>
            </a:r>
            <a:r>
              <a:rPr lang="ru-RU" sz="3600">
                <a:solidFill>
                  <a:schemeClr val="bg1"/>
                </a:solidFill>
                <a:latin typeface="VTB Group UI Book" panose="020B0503040504020204" pitchFamily="34" charset="-52"/>
              </a:rPr>
              <a:t>в </a:t>
            </a:r>
            <a:r>
              <a:rPr lang="en-US" sz="3600">
                <a:solidFill>
                  <a:schemeClr val="bg1"/>
                </a:solidFill>
                <a:latin typeface="VTB Group UI Book" panose="020B0503040504020204" pitchFamily="34" charset="-52"/>
              </a:rPr>
              <a:t>Figma</a:t>
            </a:r>
            <a:endParaRPr lang="en-US" sz="3600" dirty="0">
              <a:solidFill>
                <a:schemeClr val="bg1"/>
              </a:solidFill>
              <a:latin typeface="VTB Group UI Book" panose="020B0503040504020204" pitchFamily="34" charset="-52"/>
            </a:endParaRPr>
          </a:p>
        </p:txBody>
      </p:sp>
    </p:spTree>
    <p:extLst>
      <p:ext uri="{BB962C8B-B14F-4D97-AF65-F5344CB8AC3E}">
        <p14:creationId xmlns:p14="http://schemas.microsoft.com/office/powerpoint/2010/main" val="12769633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62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E8B97A3-5D5F-E864-A63B-3BD2F24B19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B05BABAC-7334-6DB3-BD3A-9B51A694F9DB}"/>
              </a:ext>
            </a:extLst>
          </p:cNvPr>
          <p:cNvSpPr txBox="1"/>
          <p:nvPr/>
        </p:nvSpPr>
        <p:spPr>
          <a:xfrm>
            <a:off x="5808213" y="3817661"/>
            <a:ext cx="5845071" cy="1330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ru-RU" sz="3600">
                <a:solidFill>
                  <a:schemeClr val="bg1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Общее рабочее место</a:t>
            </a:r>
            <a:endParaRPr lang="en-US" sz="3600" dirty="0">
              <a:solidFill>
                <a:schemeClr val="bg1"/>
              </a:solidFill>
              <a:latin typeface="VTB Group UI Book" panose="020B0503040504020204" pitchFamily="34" charset="-52"/>
            </a:endParaRPr>
          </a:p>
        </p:txBody>
      </p:sp>
      <p:sp>
        <p:nvSpPr>
          <p:cNvPr id="17" name="Text 1">
            <a:extLst>
              <a:ext uri="{FF2B5EF4-FFF2-40B4-BE49-F238E27FC236}">
                <a16:creationId xmlns:a16="http://schemas.microsoft.com/office/drawing/2014/main" id="{F008D2FF-D423-6859-77B9-DA374BD354BE}"/>
              </a:ext>
            </a:extLst>
          </p:cNvPr>
          <p:cNvSpPr txBox="1"/>
          <p:nvPr/>
        </p:nvSpPr>
        <p:spPr>
          <a:xfrm>
            <a:off x="4042498" y="2592329"/>
            <a:ext cx="4293427" cy="1673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ru-RU" sz="8000">
                <a:solidFill>
                  <a:schemeClr val="bg1"/>
                </a:solidFill>
                <a:latin typeface="VTB Group UI Semi Bold" pitchFamily="34" charset="0"/>
              </a:rPr>
              <a:t>Доска</a:t>
            </a:r>
            <a:endParaRPr lang="en-US" sz="8000" dirty="0">
              <a:solidFill>
                <a:schemeClr val="bg1"/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3E0278D-BF6E-62E3-47EF-806252063EB4}"/>
              </a:ext>
            </a:extLst>
          </p:cNvPr>
          <p:cNvSpPr txBox="1"/>
          <p:nvPr/>
        </p:nvSpPr>
        <p:spPr>
          <a:xfrm>
            <a:off x="5372278" y="2394009"/>
            <a:ext cx="557925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ru-RU" sz="3600">
                <a:solidFill>
                  <a:schemeClr val="bg1"/>
                </a:solidFill>
                <a:latin typeface="VTB Group UI Book" panose="020B0503040504020204" pitchFamily="34" charset="-52"/>
              </a:rPr>
              <a:t>Контекст</a:t>
            </a:r>
            <a:endParaRPr lang="en-US" sz="3600" dirty="0">
              <a:solidFill>
                <a:schemeClr val="bg1"/>
              </a:solidFill>
              <a:latin typeface="VTB Group UI Book" panose="020B0503040504020204" pitchFamily="34" charset="-52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84719E8-4732-D611-9D96-10020505779F}"/>
              </a:ext>
            </a:extLst>
          </p:cNvPr>
          <p:cNvSpPr txBox="1"/>
          <p:nvPr/>
        </p:nvSpPr>
        <p:spPr>
          <a:xfrm>
            <a:off x="1122799" y="2172977"/>
            <a:ext cx="557925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ru-RU" sz="3600">
                <a:solidFill>
                  <a:schemeClr val="bg1"/>
                </a:solidFill>
                <a:latin typeface="VTB Group UI Book" panose="020B0503040504020204" pitchFamily="34" charset="-52"/>
              </a:rPr>
              <a:t>Визуализация</a:t>
            </a:r>
            <a:endParaRPr lang="en-US" sz="3600" dirty="0">
              <a:solidFill>
                <a:schemeClr val="bg1"/>
              </a:solidFill>
              <a:latin typeface="VTB Group UI Book" panose="020B0503040504020204" pitchFamily="34" charset="-52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DC6A061-0124-6083-44EB-479CC897435B}"/>
              </a:ext>
            </a:extLst>
          </p:cNvPr>
          <p:cNvSpPr txBox="1"/>
          <p:nvPr/>
        </p:nvSpPr>
        <p:spPr>
          <a:xfrm>
            <a:off x="1122799" y="3494495"/>
            <a:ext cx="513295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ru-RU" sz="3600">
                <a:solidFill>
                  <a:schemeClr val="bg1"/>
                </a:solidFill>
                <a:latin typeface="VTB Group UI Book" panose="020B0503040504020204" pitchFamily="34" charset="-52"/>
              </a:rPr>
              <a:t>Синхронизация</a:t>
            </a:r>
            <a:endParaRPr lang="en-US" sz="3600" dirty="0">
              <a:solidFill>
                <a:schemeClr val="bg1"/>
              </a:solidFill>
              <a:latin typeface="VTB Group UI Book" panose="020B0503040504020204" pitchFamily="34" charset="-5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8CEB05-BC97-4A91-193C-B717279DED4E}"/>
              </a:ext>
            </a:extLst>
          </p:cNvPr>
          <p:cNvSpPr txBox="1"/>
          <p:nvPr/>
        </p:nvSpPr>
        <p:spPr>
          <a:xfrm>
            <a:off x="6799435" y="2070843"/>
            <a:ext cx="522650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ru-RU" sz="3600">
                <a:solidFill>
                  <a:schemeClr val="bg1"/>
                </a:solidFill>
                <a:latin typeface="VTB Group UI Book" panose="020B0503040504020204" pitchFamily="34" charset="-52"/>
              </a:rPr>
              <a:t>Вовлеченность</a:t>
            </a:r>
            <a:endParaRPr lang="en-US" sz="3600" dirty="0">
              <a:solidFill>
                <a:schemeClr val="bg1"/>
              </a:solidFill>
              <a:latin typeface="VTB Group UI Book" panose="020B0503040504020204" pitchFamily="34" charset="-52"/>
            </a:endParaRPr>
          </a:p>
        </p:txBody>
      </p:sp>
    </p:spTree>
    <p:extLst>
      <p:ext uri="{BB962C8B-B14F-4D97-AF65-F5344CB8AC3E}">
        <p14:creationId xmlns:p14="http://schemas.microsoft.com/office/powerpoint/2010/main" val="28961270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C22C3D-282F-3DE6-3DB2-95EEB5D2E8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7BB1621-B508-874B-727F-BA46B8957743}"/>
              </a:ext>
            </a:extLst>
          </p:cNvPr>
          <p:cNvSpPr txBox="1"/>
          <p:nvPr/>
        </p:nvSpPr>
        <p:spPr>
          <a:xfrm>
            <a:off x="534296" y="404705"/>
            <a:ext cx="1126146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4800">
                <a:solidFill>
                  <a:srgbClr val="0B1733"/>
                </a:solidFill>
                <a:latin typeface="VTB Group UI Semi Bold" pitchFamily="34" charset="0"/>
                <a:ea typeface="VTB Group UI Semi Bold" pitchFamily="34" charset="-122"/>
                <a:cs typeface="VTB Group UI Semi Bold" pitchFamily="34" charset="-120"/>
              </a:rPr>
              <a:t>Функциональные требования</a:t>
            </a:r>
            <a:endParaRPr lang="ru-RU" sz="3200"/>
          </a:p>
        </p:txBody>
      </p:sp>
      <p:graphicFrame>
        <p:nvGraphicFramePr>
          <p:cNvPr id="7" name="Таблица 6">
            <a:extLst>
              <a:ext uri="{FF2B5EF4-FFF2-40B4-BE49-F238E27FC236}">
                <a16:creationId xmlns:a16="http://schemas.microsoft.com/office/drawing/2014/main" id="{6E7D3279-A58B-03BD-2108-83065B5A88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6419910"/>
              </p:ext>
            </p:extLst>
          </p:nvPr>
        </p:nvGraphicFramePr>
        <p:xfrm>
          <a:off x="534295" y="1453313"/>
          <a:ext cx="11261464" cy="5311813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5630732">
                  <a:extLst>
                    <a:ext uri="{9D8B030D-6E8A-4147-A177-3AD203B41FA5}">
                      <a16:colId xmlns:a16="http://schemas.microsoft.com/office/drawing/2014/main" val="1316740329"/>
                    </a:ext>
                  </a:extLst>
                </a:gridCol>
                <a:gridCol w="5630732">
                  <a:extLst>
                    <a:ext uri="{9D8B030D-6E8A-4147-A177-3AD203B41FA5}">
                      <a16:colId xmlns:a16="http://schemas.microsoft.com/office/drawing/2014/main" val="3952294350"/>
                    </a:ext>
                  </a:extLst>
                </a:gridCol>
              </a:tblGrid>
              <a:tr h="481813">
                <a:tc>
                  <a:txBody>
                    <a:bodyPr/>
                    <a:lstStyle/>
                    <a:p>
                      <a:pPr algn="ctr"/>
                      <a:r>
                        <a:rPr lang="ru-RU">
                          <a:latin typeface="VTB Group UI Semi Bold" panose="020B0603050504020204" pitchFamily="34" charset="-52"/>
                        </a:rPr>
                        <a:t>Требование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>
                          <a:latin typeface="VTB Group UI Semi Bold" panose="020B0603050504020204" pitchFamily="34" charset="-52"/>
                        </a:rPr>
                        <a:t>Описание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2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1080250"/>
                  </a:ext>
                </a:extLst>
              </a:tr>
              <a:tr h="6900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4"/>
                          </a:solidFill>
                          <a:latin typeface="VTB Group UI Book" panose="020B0503040504020204" pitchFamily="34" charset="-52"/>
                        </a:rPr>
                        <a:t>Создание доски вместе с ВКС</a:t>
                      </a:r>
                      <a:endParaRPr lang="ru-RU">
                        <a:latin typeface="VTB Group UI Book" panose="020B0503040504020204" pitchFamily="34" charset="-52"/>
                      </a:endParaRPr>
                    </a:p>
                  </a:txBody>
                  <a:tcPr marL="182880" marR="1828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41414"/>
                          </a:solidFill>
                          <a:latin typeface="VTB Group UI Book" panose="020B0503040504020204" pitchFamily="34" charset="-52"/>
                        </a:rPr>
                        <a:t>Переключатель «Доска» в блоке быстрого набора Оповещатора. Включает дежурный; по кнопке «Оповестить» доска создаётся вместе с ВКС и привязывается к конференции</a:t>
                      </a:r>
                      <a:endParaRPr lang="ru-RU">
                        <a:latin typeface="VTB Group UI Book" panose="020B0503040504020204" pitchFamily="34" charset="-52"/>
                      </a:endParaRPr>
                    </a:p>
                  </a:txBody>
                  <a:tcPr marL="182880" marR="1828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06159448"/>
                  </a:ext>
                </a:extLst>
              </a:tr>
              <a:tr h="6900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4"/>
                          </a:solidFill>
                          <a:latin typeface="VTB Group UI Book" panose="020B0503040504020204" pitchFamily="34" charset="-52"/>
                        </a:rPr>
                        <a:t>Ссылка на доску</a:t>
                      </a:r>
                      <a:endParaRPr lang="ru-RU">
                        <a:latin typeface="VTB Group UI Book" panose="020B0503040504020204" pitchFamily="34" charset="-52"/>
                      </a:endParaRPr>
                    </a:p>
                  </a:txBody>
                  <a:tcPr marL="182880" marR="1828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41414"/>
                          </a:solidFill>
                          <a:latin typeface="VTB Group UI Book" panose="020B0503040504020204" pitchFamily="34" charset="-52"/>
                        </a:rPr>
                        <a:t>Ссылка уходит участникам в одном сообщении со ссылкой на ВКС и </a:t>
                      </a:r>
                      <a:r>
                        <a:rPr sz="1200">
                          <a:solidFill>
                            <a:srgbClr val="141414"/>
                          </a:solidFill>
                          <a:highlight>
                            <a:srgbClr val="FF0000"/>
                          </a:highlight>
                          <a:latin typeface="VTB Group UI Book" panose="020B0503040504020204" pitchFamily="34" charset="-52"/>
                        </a:rPr>
                        <a:t>видна в предпросмотре</a:t>
                      </a:r>
                      <a:r>
                        <a:rPr sz="1200">
                          <a:solidFill>
                            <a:srgbClr val="141414"/>
                          </a:solidFill>
                          <a:latin typeface="VTB Group UI Book" panose="020B0503040504020204" pitchFamily="34" charset="-52"/>
                        </a:rPr>
                        <a:t>. Доску можно повторно открыть из карточки аварии</a:t>
                      </a:r>
                      <a:endParaRPr lang="ru-RU">
                        <a:latin typeface="VTB Group UI Book" panose="020B0503040504020204" pitchFamily="34" charset="-52"/>
                      </a:endParaRPr>
                    </a:p>
                  </a:txBody>
                  <a:tcPr marL="182880" marR="1828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42541928"/>
                  </a:ext>
                </a:extLst>
              </a:tr>
              <a:tr h="6900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4"/>
                          </a:solidFill>
                          <a:latin typeface="VTB Group UI Book" panose="020B0503040504020204" pitchFamily="34" charset="-52"/>
                        </a:rPr>
                        <a:t>Контекст аварии</a:t>
                      </a:r>
                      <a:endParaRPr lang="ru-RU">
                        <a:latin typeface="VTB Group UI Book" panose="020B0503040504020204" pitchFamily="34" charset="-52"/>
                      </a:endParaRPr>
                    </a:p>
                  </a:txBody>
                  <a:tcPr marL="182880" marR="1828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41414"/>
                          </a:solidFill>
                          <a:latin typeface="VTB Group UI Book" panose="020B0503040504020204" pitchFamily="34" charset="-52"/>
                        </a:rPr>
                        <a:t>Карточка на доске заполняется из Оповещатора: номер аварии, система, КЕ, точка сбоя, связанные сервисы, конференция. Шаблон доски: колонки «Хронология», «Гипотезы», «Действия»</a:t>
                      </a:r>
                      <a:endParaRPr lang="ru-RU">
                        <a:latin typeface="VTB Group UI Book" panose="020B0503040504020204" pitchFamily="34" charset="-52"/>
                      </a:endParaRPr>
                    </a:p>
                  </a:txBody>
                  <a:tcPr marL="182880" marR="1828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30925275"/>
                  </a:ext>
                </a:extLst>
              </a:tr>
              <a:tr h="6900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4"/>
                          </a:solidFill>
                          <a:latin typeface="VTB Group UI Book" panose="020B0503040504020204" pitchFamily="34" charset="-52"/>
                        </a:rPr>
                        <a:t>Инструменты</a:t>
                      </a:r>
                      <a:endParaRPr lang="ru-RU">
                        <a:latin typeface="VTB Group UI Book" panose="020B0503040504020204" pitchFamily="34" charset="-52"/>
                      </a:endParaRPr>
                    </a:p>
                  </a:txBody>
                  <a:tcPr marL="182880" marR="1828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41414"/>
                          </a:solidFill>
                          <a:latin typeface="VTB Group UI Book" panose="020B0503040504020204" pitchFamily="34" charset="-52"/>
                        </a:rPr>
                        <a:t>Выделение, перемещение, стикеры (12 цветов), текст с форматированием, рисование (кисти, толщина, цвет), реакции (</a:t>
                      </a:r>
                      <a:r>
                        <a:rPr sz="1200">
                          <a:solidFill>
                            <a:srgbClr val="141414"/>
                          </a:solidFill>
                          <a:highlight>
                            <a:srgbClr val="FFFF00"/>
                          </a:highlight>
                          <a:latin typeface="VTB Group UI Book" panose="020B0503040504020204" pitchFamily="34" charset="-52"/>
                        </a:rPr>
                        <a:t>8</a:t>
                      </a:r>
                      <a:r>
                        <a:rPr sz="1200">
                          <a:solidFill>
                            <a:srgbClr val="141414"/>
                          </a:solidFill>
                          <a:latin typeface="VTB Group UI Book" panose="020B0503040504020204" pitchFamily="34" charset="-52"/>
                        </a:rPr>
                        <a:t> видов), фреймы</a:t>
                      </a:r>
                      <a:endParaRPr lang="ru-RU">
                        <a:latin typeface="VTB Group UI Book" panose="020B0503040504020204" pitchFamily="34" charset="-52"/>
                      </a:endParaRPr>
                    </a:p>
                  </a:txBody>
                  <a:tcPr marL="182880" marR="1828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5367060"/>
                  </a:ext>
                </a:extLst>
              </a:tr>
              <a:tr h="6900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4"/>
                          </a:solidFill>
                          <a:latin typeface="VTB Group UI Book" panose="020B0503040504020204" pitchFamily="34" charset="-52"/>
                        </a:rPr>
                        <a:t>Управление доской</a:t>
                      </a:r>
                      <a:endParaRPr lang="ru-RU">
                        <a:latin typeface="VTB Group UI Book" panose="020B0503040504020204" pitchFamily="34" charset="-52"/>
                      </a:endParaRPr>
                    </a:p>
                  </a:txBody>
                  <a:tcPr marL="182880" marR="1828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41414"/>
                          </a:solidFill>
                          <a:latin typeface="VTB Group UI Book" panose="020B0503040504020204" pitchFamily="34" charset="-52"/>
                        </a:rPr>
                        <a:t>Меню доски, переименование, экспорт, отмена и повтор действий, масштаб, таймер обсуждения, вид сетки (точки, линии, без сетки)</a:t>
                      </a:r>
                      <a:endParaRPr lang="ru-RU">
                        <a:latin typeface="VTB Group UI Book" panose="020B0503040504020204" pitchFamily="34" charset="-52"/>
                      </a:endParaRPr>
                    </a:p>
                  </a:txBody>
                  <a:tcPr marL="182880" marR="1828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27496800"/>
                  </a:ext>
                </a:extLst>
              </a:tr>
              <a:tr h="6900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4"/>
                          </a:solidFill>
                          <a:latin typeface="VTB Group UI Book" panose="020B0503040504020204" pitchFamily="34" charset="-52"/>
                        </a:rPr>
                        <a:t>Совместная работа</a:t>
                      </a:r>
                      <a:endParaRPr lang="ru-RU">
                        <a:latin typeface="VTB Group UI Book" panose="020B0503040504020204" pitchFamily="34" charset="-52"/>
                      </a:endParaRPr>
                    </a:p>
                  </a:txBody>
                  <a:tcPr marL="182880" marR="1828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41414"/>
                          </a:solidFill>
                          <a:latin typeface="VTB Group UI Book" panose="020B0503040504020204" pitchFamily="34" charset="-52"/>
                        </a:rPr>
                        <a:t>Изменения и курсоры с именами участников видны всем в реальном времени</a:t>
                      </a:r>
                      <a:endParaRPr lang="ru-RU">
                        <a:latin typeface="VTB Group UI Book" panose="020B0503040504020204" pitchFamily="34" charset="-52"/>
                      </a:endParaRPr>
                    </a:p>
                  </a:txBody>
                  <a:tcPr marL="182880" marR="1828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16431223"/>
                  </a:ext>
                </a:extLst>
              </a:tr>
              <a:tr h="6900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4"/>
                          </a:solidFill>
                          <a:latin typeface="VTB Group UI Book" panose="020B0503040504020204" pitchFamily="34" charset="-52"/>
                        </a:rPr>
                        <a:t>История (предварительно)</a:t>
                      </a:r>
                      <a:endParaRPr lang="ru-RU">
                        <a:latin typeface="VTB Group UI Book" panose="020B0503040504020204" pitchFamily="34" charset="-52"/>
                      </a:endParaRPr>
                    </a:p>
                  </a:txBody>
                  <a:tcPr marL="182880" marR="1828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41414"/>
                          </a:solidFill>
                          <a:latin typeface="VTB Group UI Book" panose="020B0503040504020204" pitchFamily="34" charset="-52"/>
                        </a:rPr>
                        <a:t>Перед новой ВКС состояние доски сохраняется в бэкап с доступом только на просмотр. </a:t>
                      </a:r>
                      <a:r>
                        <a:rPr sz="1200">
                          <a:solidFill>
                            <a:srgbClr val="141414"/>
                          </a:solidFill>
                          <a:highlight>
                            <a:srgbClr val="FFFF00"/>
                          </a:highlight>
                          <a:latin typeface="VTB Group UI Book" panose="020B0503040504020204" pitchFamily="34" charset="-52"/>
                        </a:rPr>
                        <a:t>Копия в личное пространство — после решения открытого вопроса 04</a:t>
                      </a:r>
                      <a:endParaRPr lang="ru-RU">
                        <a:highlight>
                          <a:srgbClr val="FFFF00"/>
                        </a:highlight>
                        <a:latin typeface="VTB Group UI Book" panose="020B0503040504020204" pitchFamily="34" charset="-52"/>
                      </a:endParaRPr>
                    </a:p>
                  </a:txBody>
                  <a:tcPr marL="182880" marR="1828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3146582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292156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6F7215-9BCE-B88E-0D71-7A3BE09B06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A6D58B8-E4C5-218D-D042-DF84142456D1}"/>
              </a:ext>
            </a:extLst>
          </p:cNvPr>
          <p:cNvSpPr txBox="1"/>
          <p:nvPr/>
        </p:nvSpPr>
        <p:spPr>
          <a:xfrm>
            <a:off x="534296" y="404705"/>
            <a:ext cx="1126146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4800">
                <a:solidFill>
                  <a:srgbClr val="0B1733"/>
                </a:solidFill>
                <a:latin typeface="VTB Group UI Semi Bold" pitchFamily="34" charset="0"/>
                <a:ea typeface="VTB Group UI Semi Bold" pitchFamily="34" charset="-122"/>
                <a:cs typeface="VTB Group UI Semi Bold" pitchFamily="34" charset="-120"/>
              </a:rPr>
              <a:t>Нефункциональные требования</a:t>
            </a:r>
            <a:endParaRPr lang="ru-RU" sz="3200"/>
          </a:p>
        </p:txBody>
      </p:sp>
      <p:graphicFrame>
        <p:nvGraphicFramePr>
          <p:cNvPr id="3" name="Таблица 2">
            <a:extLst>
              <a:ext uri="{FF2B5EF4-FFF2-40B4-BE49-F238E27FC236}">
                <a16:creationId xmlns:a16="http://schemas.microsoft.com/office/drawing/2014/main" id="{860167D7-CEEE-A31A-9A5D-ACA3C4E15E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611862"/>
              </p:ext>
            </p:extLst>
          </p:nvPr>
        </p:nvGraphicFramePr>
        <p:xfrm>
          <a:off x="534295" y="1453313"/>
          <a:ext cx="11261464" cy="5311813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5630732">
                  <a:extLst>
                    <a:ext uri="{9D8B030D-6E8A-4147-A177-3AD203B41FA5}">
                      <a16:colId xmlns:a16="http://schemas.microsoft.com/office/drawing/2014/main" val="1316740329"/>
                    </a:ext>
                  </a:extLst>
                </a:gridCol>
                <a:gridCol w="5630732">
                  <a:extLst>
                    <a:ext uri="{9D8B030D-6E8A-4147-A177-3AD203B41FA5}">
                      <a16:colId xmlns:a16="http://schemas.microsoft.com/office/drawing/2014/main" val="3952294350"/>
                    </a:ext>
                  </a:extLst>
                </a:gridCol>
              </a:tblGrid>
              <a:tr h="481813">
                <a:tc>
                  <a:txBody>
                    <a:bodyPr/>
                    <a:lstStyle/>
                    <a:p>
                      <a:pPr algn="ctr"/>
                      <a:r>
                        <a:rPr lang="ru-RU">
                          <a:latin typeface="VTB Group UI Semi Bold" panose="020B0603050504020204" pitchFamily="34" charset="-52"/>
                        </a:rPr>
                        <a:t>Требование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>
                          <a:latin typeface="VTB Group UI Semi Bold" panose="020B0603050504020204" pitchFamily="34" charset="-52"/>
                        </a:rPr>
                        <a:t>Описание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2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1080250"/>
                  </a:ext>
                </a:extLst>
              </a:tr>
              <a:tr h="6900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4"/>
                          </a:solidFill>
                          <a:latin typeface="VTB Group UI Book" panose="020B0503040504020204" pitchFamily="34" charset="-52"/>
                        </a:rPr>
                        <a:t>Производительность</a:t>
                      </a:r>
                      <a:endParaRPr lang="ru-RU">
                        <a:latin typeface="VTB Group UI Book" panose="020B0503040504020204" pitchFamily="34" charset="-52"/>
                      </a:endParaRPr>
                    </a:p>
                  </a:txBody>
                  <a:tcPr marL="182880" marR="1828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>
                          <a:solidFill>
                            <a:srgbClr val="141414"/>
                          </a:solidFill>
                          <a:latin typeface="VTB Group UI Book" panose="020B0503040504020204" pitchFamily="34" charset="-52"/>
                        </a:rPr>
                        <a:t>Доска создаётся не дольше 3 с после «Оповестить», параллельно: отправка оповещения её не ждёт. Правки видны участникам не позже 1 с (95% случаев, 25 участников)</a:t>
                      </a:r>
                    </a:p>
                  </a:txBody>
                  <a:tcPr marL="182880" marR="1828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06159448"/>
                  </a:ext>
                </a:extLst>
              </a:tr>
              <a:tr h="6900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4"/>
                          </a:solidFill>
                          <a:latin typeface="VTB Group UI Book" panose="020B0503040504020204" pitchFamily="34" charset="-52"/>
                        </a:rPr>
                        <a:t>Одновременные участники</a:t>
                      </a:r>
                      <a:endParaRPr lang="ru-RU">
                        <a:latin typeface="VTB Group UI Book" panose="020B0503040504020204" pitchFamily="34" charset="-52"/>
                      </a:endParaRPr>
                    </a:p>
                  </a:txBody>
                  <a:tcPr marL="182880" marR="1828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>
                          <a:solidFill>
                            <a:srgbClr val="141414"/>
                          </a:solidFill>
                          <a:latin typeface="VTB Group UI Book" panose="020B0503040504020204" pitchFamily="34" charset="-52"/>
                        </a:rPr>
                        <a:t>Не менее 25 редакторов без деградации; до 50 — задержка правок до 2 с. Остальные участники ВКС — просмотр по ссылке или демонстрация экрана</a:t>
                      </a:r>
                    </a:p>
                  </a:txBody>
                  <a:tcPr marL="182880" marR="1828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38346606"/>
                  </a:ext>
                </a:extLst>
              </a:tr>
              <a:tr h="6900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4"/>
                          </a:solidFill>
                          <a:latin typeface="VTB Group UI Book" panose="020B0503040504020204" pitchFamily="34" charset="-52"/>
                        </a:rPr>
                        <a:t>Доступ и безопасность</a:t>
                      </a:r>
                      <a:endParaRPr lang="ru-RU">
                        <a:latin typeface="VTB Group UI Book" panose="020B0503040504020204" pitchFamily="34" charset="-52"/>
                      </a:endParaRPr>
                    </a:p>
                  </a:txBody>
                  <a:tcPr marL="182880" marR="1828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>
                          <a:solidFill>
                            <a:srgbClr val="141414"/>
                          </a:solidFill>
                          <a:highlight>
                            <a:srgbClr val="FFFF00"/>
                          </a:highlight>
                          <a:latin typeface="VTB Group UI Book" panose="020B0503040504020204" pitchFamily="34" charset="-52"/>
                        </a:rPr>
                        <a:t>Вход через корпоративную учётную запись</a:t>
                      </a:r>
                      <a:r>
                        <a:rPr lang="ru-RU" sz="1200">
                          <a:solidFill>
                            <a:srgbClr val="141414"/>
                          </a:solidFill>
                          <a:latin typeface="VTB Group UI Book" panose="020B0503040504020204" pitchFamily="34" charset="-52"/>
                        </a:rPr>
                        <a:t>. Роли «редактор» и «просмотр»: дежурный — редактор по умолчанию и выдаёт роли. Журнал действий на доске</a:t>
                      </a:r>
                    </a:p>
                  </a:txBody>
                  <a:tcPr marL="182880" marR="1828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46945047"/>
                  </a:ext>
                </a:extLst>
              </a:tr>
              <a:tr h="6900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4"/>
                          </a:solidFill>
                          <a:latin typeface="VTB Group UI Book" panose="020B0503040504020204" pitchFamily="34" charset="-52"/>
                        </a:rPr>
                        <a:t>Надёжность</a:t>
                      </a:r>
                      <a:endParaRPr lang="ru-RU">
                        <a:latin typeface="VTB Group UI Book" panose="020B0503040504020204" pitchFamily="34" charset="-52"/>
                      </a:endParaRPr>
                    </a:p>
                  </a:txBody>
                  <a:tcPr marL="182880" marR="1828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>
                          <a:solidFill>
                            <a:srgbClr val="141414"/>
                          </a:solidFill>
                          <a:latin typeface="VTB Group UI Book" panose="020B0503040504020204" pitchFamily="34" charset="-52"/>
                        </a:rPr>
                        <a:t>Сбой создания доски не блокирует ВКС и оповещение. Автосохранение: потеря не более 5 с изменений. Бэкап при каждой новой ВКС</a:t>
                      </a:r>
                    </a:p>
                  </a:txBody>
                  <a:tcPr marL="182880" marR="1828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29651384"/>
                  </a:ext>
                </a:extLst>
              </a:tr>
              <a:tr h="6900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4"/>
                          </a:solidFill>
                          <a:latin typeface="VTB Group UI Book" panose="020B0503040504020204" pitchFamily="34" charset="-52"/>
                        </a:rPr>
                        <a:t>Хранение данных</a:t>
                      </a:r>
                      <a:endParaRPr lang="ru-RU">
                        <a:latin typeface="VTB Group UI Book" panose="020B0503040504020204" pitchFamily="34" charset="-52"/>
                      </a:endParaRPr>
                    </a:p>
                  </a:txBody>
                  <a:tcPr marL="182880" marR="1828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>
                          <a:solidFill>
                            <a:srgbClr val="141414"/>
                          </a:solidFill>
                          <a:latin typeface="VTB Group UI Book" panose="020B0503040504020204" pitchFamily="34" charset="-52"/>
                        </a:rPr>
                        <a:t>Данные аварии и доски хранятся внутри контура банка. </a:t>
                      </a:r>
                      <a:r>
                        <a:rPr lang="ru-RU" sz="1200">
                          <a:solidFill>
                            <a:srgbClr val="141414"/>
                          </a:solidFill>
                          <a:highlight>
                            <a:srgbClr val="FFFF00"/>
                          </a:highlight>
                          <a:latin typeface="VTB Group UI Book" panose="020B0503040504020204" pitchFamily="34" charset="-52"/>
                        </a:rPr>
                        <a:t>Срок хранения бэкапов — по решению открытого вопроса 03</a:t>
                      </a:r>
                    </a:p>
                  </a:txBody>
                  <a:tcPr marL="182880" marR="1828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5095157"/>
                  </a:ext>
                </a:extLst>
              </a:tr>
              <a:tr h="6900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4"/>
                          </a:solidFill>
                          <a:latin typeface="VTB Group UI Book" panose="020B0503040504020204" pitchFamily="34" charset="-52"/>
                        </a:rPr>
                        <a:t>Масштабирование</a:t>
                      </a:r>
                      <a:endParaRPr lang="ru-RU">
                        <a:latin typeface="VTB Group UI Book" panose="020B0503040504020204" pitchFamily="34" charset="-52"/>
                      </a:endParaRPr>
                    </a:p>
                  </a:txBody>
                  <a:tcPr marL="182880" marR="1828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>
                          <a:solidFill>
                            <a:srgbClr val="141414"/>
                          </a:solidFill>
                          <a:latin typeface="VTB Group UI Book" panose="020B0503040504020204" pitchFamily="34" charset="-52"/>
                        </a:rPr>
                        <a:t>Не менее </a:t>
                      </a:r>
                      <a:r>
                        <a:rPr lang="ru-RU" sz="1200">
                          <a:solidFill>
                            <a:srgbClr val="141414"/>
                          </a:solidFill>
                          <a:highlight>
                            <a:srgbClr val="FFFF00"/>
                          </a:highlight>
                          <a:latin typeface="VTB Group UI Book" panose="020B0503040504020204" pitchFamily="34" charset="-52"/>
                        </a:rPr>
                        <a:t>10</a:t>
                      </a:r>
                      <a:r>
                        <a:rPr lang="ru-RU" sz="1200">
                          <a:solidFill>
                            <a:srgbClr val="141414"/>
                          </a:solidFill>
                          <a:latin typeface="VTB Group UI Book" panose="020B0503040504020204" pitchFamily="34" charset="-52"/>
                        </a:rPr>
                        <a:t> одновременно активных досок — по числу параллельных аварий .</a:t>
                      </a:r>
                      <a:r>
                        <a:rPr lang="ru-RU" sz="1200">
                          <a:solidFill>
                            <a:srgbClr val="141414"/>
                          </a:solidFill>
                          <a:highlight>
                            <a:srgbClr val="FFFF00"/>
                          </a:highlight>
                          <a:latin typeface="VTB Group UI Book" panose="020B0503040504020204" pitchFamily="34" charset="-52"/>
                        </a:rPr>
                        <a:t> (узнать среднее кол-во открытых конференций по авариям)</a:t>
                      </a:r>
                    </a:p>
                  </a:txBody>
                  <a:tcPr marL="182880" marR="1828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18625412"/>
                  </a:ext>
                </a:extLst>
              </a:tr>
              <a:tr h="6900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4"/>
                          </a:solidFill>
                          <a:latin typeface="VTB Group UI Book" panose="020B0503040504020204" pitchFamily="34" charset="-52"/>
                        </a:rPr>
                        <a:t>Совместимость</a:t>
                      </a:r>
                      <a:endParaRPr lang="ru-RU">
                        <a:latin typeface="VTB Group UI Book" panose="020B0503040504020204" pitchFamily="34" charset="-52"/>
                      </a:endParaRPr>
                    </a:p>
                  </a:txBody>
                  <a:tcPr marL="182880" marR="1828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>
                          <a:solidFill>
                            <a:srgbClr val="141414"/>
                          </a:solidFill>
                          <a:highlight>
                            <a:srgbClr val="FFFF00"/>
                          </a:highlight>
                          <a:latin typeface="VTB Group UI Book" panose="020B0503040504020204" pitchFamily="34" charset="-52"/>
                        </a:rPr>
                        <a:t>Актуальные Chrome, Edge, Яндекс Браузер; экран от 1366×768. Работа рядом с DION в отдельной вкладке. Выбор контура — открытый вопрос 05</a:t>
                      </a:r>
                    </a:p>
                  </a:txBody>
                  <a:tcPr marL="182880" marR="1828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284516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505650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Rectangle 240663624" descr="preencoded.png">
            <a:extLst>
              <a:ext uri="{FF2B5EF4-FFF2-40B4-BE49-F238E27FC236}">
                <a16:creationId xmlns:a16="http://schemas.microsoft.com/office/drawing/2014/main" id="{9010DED7-9CD8-2AA0-FF80-0CCB3190367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4851636" y="2200275"/>
            <a:ext cx="6397611" cy="4286250"/>
          </a:xfrm>
          <a:prstGeom prst="rect">
            <a:avLst/>
          </a:prstGeom>
        </p:spPr>
      </p:pic>
      <p:sp>
        <p:nvSpPr>
          <p:cNvPr id="21" name="Text 5">
            <a:extLst>
              <a:ext uri="{FF2B5EF4-FFF2-40B4-BE49-F238E27FC236}">
                <a16:creationId xmlns:a16="http://schemas.microsoft.com/office/drawing/2014/main" id="{6E3B43DC-E51E-1A7B-37F0-8A1D36367402}"/>
              </a:ext>
            </a:extLst>
          </p:cNvPr>
          <p:cNvSpPr txBox="1"/>
          <p:nvPr/>
        </p:nvSpPr>
        <p:spPr>
          <a:xfrm>
            <a:off x="3931920" y="4069080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8FB4FF"/>
                </a:solidFill>
                <a:latin typeface="VTB Group UI Semi Bold" pitchFamily="34" charset="0"/>
                <a:ea typeface="VTB Group UI Semi Bold" pitchFamily="34" charset="-122"/>
                <a:cs typeface="VTB Group UI Semi Bold" pitchFamily="34" charset="-120"/>
              </a:rPr>
              <a:t>→</a:t>
            </a:r>
            <a:endParaRPr lang="en-US" sz="2600" dirty="0"/>
          </a:p>
        </p:txBody>
      </p:sp>
      <p:sp>
        <p:nvSpPr>
          <p:cNvPr id="38" name="Text 1">
            <a:extLst>
              <a:ext uri="{FF2B5EF4-FFF2-40B4-BE49-F238E27FC236}">
                <a16:creationId xmlns:a16="http://schemas.microsoft.com/office/drawing/2014/main" id="{7814FD5D-4045-547B-B7E8-F1E510FA93DA}"/>
              </a:ext>
            </a:extLst>
          </p:cNvPr>
          <p:cNvSpPr txBox="1"/>
          <p:nvPr/>
        </p:nvSpPr>
        <p:spPr>
          <a:xfrm>
            <a:off x="655320" y="371475"/>
            <a:ext cx="10881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600" dirty="0">
                <a:latin typeface="VTB Group UI Semi Bold" pitchFamily="34" charset="0"/>
                <a:ea typeface="VTB Group UI Semi Bold" pitchFamily="34" charset="-122"/>
                <a:cs typeface="VTB Group UI Semi Bold" pitchFamily="34" charset="-120"/>
              </a:rPr>
              <a:t>Доска — часть сценария оповещения,</a:t>
            </a:r>
            <a:endParaRPr lang="en-US" sz="3600" dirty="0"/>
          </a:p>
          <a:p>
            <a:pPr marL="0" indent="0" algn="ctr">
              <a:buNone/>
            </a:pPr>
            <a:r>
              <a:rPr lang="en-US" sz="3600" dirty="0">
                <a:latin typeface="VTB Group UI Semi Bold" pitchFamily="34" charset="0"/>
                <a:ea typeface="VTB Group UI Semi Bold" pitchFamily="34" charset="-122"/>
                <a:cs typeface="VTB Group UI Semi Bold" pitchFamily="34" charset="-120"/>
              </a:rPr>
              <a:t>а не отдельный сервис</a:t>
            </a:r>
            <a:endParaRPr lang="en-US" sz="3600" dirty="0"/>
          </a:p>
        </p:txBody>
      </p:sp>
      <p:pic>
        <p:nvPicPr>
          <p:cNvPr id="3" name="Rectangle 240663625" descr="preencoded.png">
            <a:extLst>
              <a:ext uri="{FF2B5EF4-FFF2-40B4-BE49-F238E27FC236}">
                <a16:creationId xmlns:a16="http://schemas.microsoft.com/office/drawing/2014/main" id="{211E860D-1A43-E0B8-174E-B97D52E09DB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603885" y="2200275"/>
            <a:ext cx="3876675" cy="4286250"/>
          </a:xfrm>
          <a:prstGeom prst="rect">
            <a:avLst/>
          </a:prstGeom>
        </p:spPr>
      </p:pic>
      <p:sp>
        <p:nvSpPr>
          <p:cNvPr id="5" name="Text 9">
            <a:extLst>
              <a:ext uri="{FF2B5EF4-FFF2-40B4-BE49-F238E27FC236}">
                <a16:creationId xmlns:a16="http://schemas.microsoft.com/office/drawing/2014/main" id="{A18FD1A8-B42F-578B-30F1-66FB9FE8DEB7}"/>
              </a:ext>
            </a:extLst>
          </p:cNvPr>
          <p:cNvSpPr txBox="1"/>
          <p:nvPr/>
        </p:nvSpPr>
        <p:spPr>
          <a:xfrm>
            <a:off x="4414638" y="2393590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0" dirty="0">
                <a:solidFill>
                  <a:srgbClr val="8FB4FF"/>
                </a:solidFill>
                <a:latin typeface="VTB Group UI Semi Bold" pitchFamily="34" charset="0"/>
                <a:ea typeface="VTB Group UI Semi Bold" pitchFamily="34" charset="-122"/>
                <a:cs typeface="VTB Group UI Semi Bold" pitchFamily="34" charset="-120"/>
              </a:rPr>
              <a:t>→</a:t>
            </a:r>
            <a:endParaRPr lang="en-US" sz="360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D077C43A-D775-E76F-2F87-CACB868201AA}"/>
              </a:ext>
            </a:extLst>
          </p:cNvPr>
          <p:cNvSpPr txBox="1"/>
          <p:nvPr/>
        </p:nvSpPr>
        <p:spPr>
          <a:xfrm>
            <a:off x="11117403" y="5809910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0" dirty="0">
                <a:solidFill>
                  <a:srgbClr val="8FB4FF"/>
                </a:solidFill>
                <a:latin typeface="VTB Group UI Semi Bold" pitchFamily="34" charset="0"/>
                <a:ea typeface="VTB Group UI Semi Bold" pitchFamily="34" charset="-122"/>
                <a:cs typeface="VTB Group UI Semi Bold" pitchFamily="34" charset="-120"/>
              </a:rPr>
              <a:t>→</a:t>
            </a:r>
            <a:endParaRPr lang="en-US" sz="36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F74E80C-C5E4-FD2E-88F7-1E8A06B47F42}"/>
              </a:ext>
            </a:extLst>
          </p:cNvPr>
          <p:cNvSpPr txBox="1"/>
          <p:nvPr/>
        </p:nvSpPr>
        <p:spPr>
          <a:xfrm>
            <a:off x="510074" y="2912239"/>
            <a:ext cx="4064295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3600">
                <a:solidFill>
                  <a:schemeClr val="bg1"/>
                </a:solidFill>
                <a:latin typeface="VTB Group UI Semi Bold" pitchFamily="34" charset="0"/>
                <a:ea typeface="VTB Group UI Semi Bold" pitchFamily="34" charset="-122"/>
                <a:cs typeface="VTB Group UI Semi Bold" pitchFamily="34" charset="-120"/>
              </a:rPr>
              <a:t>Дежурный</a:t>
            </a:r>
          </a:p>
          <a:p>
            <a:pPr algn="ctr"/>
            <a:r>
              <a:rPr lang="ru-RU" sz="3600">
                <a:solidFill>
                  <a:schemeClr val="bg1"/>
                </a:solidFill>
                <a:latin typeface="VTB Group UI Book" panose="020B0503040504020204" pitchFamily="34" charset="-52"/>
              </a:rPr>
              <a:t>опционально</a:t>
            </a:r>
            <a:br>
              <a:rPr lang="ru-RU" sz="3600">
                <a:solidFill>
                  <a:schemeClr val="bg1"/>
                </a:solidFill>
                <a:latin typeface="VTB Group UI Book" panose="020B0503040504020204" pitchFamily="34" charset="-52"/>
              </a:rPr>
            </a:br>
            <a:r>
              <a:rPr lang="ru-RU" sz="3600">
                <a:solidFill>
                  <a:schemeClr val="bg1"/>
                </a:solidFill>
                <a:latin typeface="VTB Group UI Book" panose="020B0503040504020204" pitchFamily="34" charset="-52"/>
              </a:rPr>
              <a:t>включает</a:t>
            </a:r>
            <a:br>
              <a:rPr lang="ru-RU" sz="3600">
                <a:solidFill>
                  <a:schemeClr val="bg1"/>
                </a:solidFill>
                <a:latin typeface="VTB Group UI Book" panose="020B0503040504020204" pitchFamily="34" charset="-52"/>
              </a:rPr>
            </a:br>
            <a:r>
              <a:rPr lang="ru-RU" sz="3600">
                <a:solidFill>
                  <a:schemeClr val="bg1"/>
                </a:solidFill>
                <a:latin typeface="VTB Group UI Book" panose="020B0503040504020204" pitchFamily="34" charset="-52"/>
              </a:rPr>
              <a:t>доску при создании ВКС</a:t>
            </a:r>
            <a:endParaRPr lang="en-US" sz="3600" dirty="0">
              <a:solidFill>
                <a:schemeClr val="bg1"/>
              </a:solidFill>
              <a:latin typeface="VTB Group UI Book" panose="020B0503040504020204" pitchFamily="34" charset="-52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E06B8E0-4E9F-4ED6-2B00-6F5D04A76CE0}"/>
              </a:ext>
            </a:extLst>
          </p:cNvPr>
          <p:cNvSpPr txBox="1"/>
          <p:nvPr/>
        </p:nvSpPr>
        <p:spPr>
          <a:xfrm>
            <a:off x="6051255" y="2667910"/>
            <a:ext cx="4064295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3600">
                <a:solidFill>
                  <a:schemeClr val="bg1"/>
                </a:solidFill>
                <a:latin typeface="VTB Group UI Semi Bold" panose="020B0603050504020204" pitchFamily="34" charset="-52"/>
              </a:rPr>
              <a:t>ВКС</a:t>
            </a:r>
            <a:r>
              <a:rPr lang="ru-RU" sz="3600">
                <a:solidFill>
                  <a:schemeClr val="bg1"/>
                </a:solidFill>
                <a:latin typeface="VTB Group UI Book" panose="020B0503040504020204" pitchFamily="34" charset="-52"/>
              </a:rPr>
              <a:t> и </a:t>
            </a:r>
            <a:r>
              <a:rPr lang="ru-RU" sz="3600">
                <a:solidFill>
                  <a:schemeClr val="bg1"/>
                </a:solidFill>
                <a:latin typeface="VTB Group UI Semi Bold" panose="020B0603050504020204" pitchFamily="34" charset="-52"/>
              </a:rPr>
              <a:t>Доска</a:t>
            </a:r>
            <a:r>
              <a:rPr lang="ru-RU" sz="3600">
                <a:solidFill>
                  <a:schemeClr val="bg1"/>
                </a:solidFill>
                <a:latin typeface="VTB Group UI Book" panose="020B0503040504020204" pitchFamily="34" charset="-52"/>
              </a:rPr>
              <a:t> создаются одновременно</a:t>
            </a:r>
            <a:br>
              <a:rPr lang="ru-RU" sz="3600">
                <a:solidFill>
                  <a:schemeClr val="bg1"/>
                </a:solidFill>
                <a:latin typeface="VTB Group UI Book" panose="020B0503040504020204" pitchFamily="34" charset="-52"/>
              </a:rPr>
            </a:br>
            <a:r>
              <a:rPr lang="ru-RU" sz="3600">
                <a:solidFill>
                  <a:schemeClr val="bg1"/>
                </a:solidFill>
                <a:latin typeface="VTB Group UI Book" panose="020B0503040504020204" pitchFamily="34" charset="-52"/>
              </a:rPr>
              <a:t>(участникам предоставляется доступ)</a:t>
            </a:r>
            <a:endParaRPr lang="en-US" sz="3600" dirty="0">
              <a:solidFill>
                <a:schemeClr val="bg1"/>
              </a:solidFill>
              <a:latin typeface="VTB Group UI Book" panose="020B0503040504020204" pitchFamily="34" charset="-5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DA5AECD-8F4F-8FDB-4668-42C8BE529E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C9097879-D8A5-4EAC-699B-8913FF68DAE1}"/>
              </a:ext>
            </a:extLst>
          </p:cNvPr>
          <p:cNvSpPr txBox="1"/>
          <p:nvPr/>
        </p:nvSpPr>
        <p:spPr>
          <a:xfrm>
            <a:off x="534296" y="1455028"/>
            <a:ext cx="11261464" cy="1216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ru-RU" sz="34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	</a:t>
            </a:r>
            <a:r>
              <a:rPr lang="ru-RU" sz="3400">
                <a:solidFill>
                  <a:srgbClr val="0B1733"/>
                </a:solidFill>
                <a:latin typeface="VTB Group UI Semi Bold" panose="020B0603050504020204" pitchFamily="34" charset="-52"/>
                <a:ea typeface="VTB Group UI Semi Bold" pitchFamily="34" charset="-122"/>
                <a:cs typeface="VTB Group UI Semi Bold" pitchFamily="34" charset="-120"/>
              </a:rPr>
              <a:t>Нет встраивания в </a:t>
            </a:r>
            <a:r>
              <a:rPr lang="en-US" sz="3400">
                <a:solidFill>
                  <a:srgbClr val="0B1733"/>
                </a:solidFill>
                <a:latin typeface="VTB Group UI Semi Bold" panose="020B0603050504020204" pitchFamily="34" charset="-52"/>
                <a:ea typeface="VTB Group UI Semi Bold" pitchFamily="34" charset="-122"/>
                <a:cs typeface="VTB Group UI Semi Bold" pitchFamily="34" charset="-120"/>
              </a:rPr>
              <a:t>DION</a:t>
            </a:r>
            <a:r>
              <a:rPr lang="ru-RU" sz="34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. Только демонстрация экрана дежурным, но у каждого есть доступ к доске.</a:t>
            </a:r>
          </a:p>
          <a:p>
            <a:pPr marL="0" indent="0">
              <a:buNone/>
            </a:pPr>
            <a:r>
              <a:rPr lang="ru-RU" sz="34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	</a:t>
            </a:r>
            <a:endParaRPr lang="ru-RU" sz="3400">
              <a:solidFill>
                <a:srgbClr val="0B1733"/>
              </a:solidFill>
              <a:latin typeface="VTB Group UI Book" panose="020B0503040504020204" pitchFamily="34" charset="-52"/>
            </a:endParaRPr>
          </a:p>
          <a:p>
            <a:pPr marL="0" indent="0">
              <a:buNone/>
            </a:pPr>
            <a:endParaRPr lang="en-US" sz="3400" dirty="0">
              <a:latin typeface="VTB Group UI Book" panose="020B0503040504020204" pitchFamily="34" charset="-52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09DD686-A58A-5119-BA52-8B7ABB639DEB}"/>
              </a:ext>
            </a:extLst>
          </p:cNvPr>
          <p:cNvSpPr txBox="1"/>
          <p:nvPr/>
        </p:nvSpPr>
        <p:spPr>
          <a:xfrm>
            <a:off x="534296" y="404705"/>
            <a:ext cx="1126146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4800">
                <a:solidFill>
                  <a:srgbClr val="0B1733"/>
                </a:solidFill>
                <a:latin typeface="VTB Group UI Semi Bold" pitchFamily="34" charset="0"/>
                <a:ea typeface="VTB Group UI Semi Bold" pitchFamily="34" charset="-122"/>
                <a:cs typeface="VTB Group UI Semi Bold" pitchFamily="34" charset="-120"/>
              </a:rPr>
              <a:t>Открытые вопросы</a:t>
            </a:r>
            <a:endParaRPr lang="ru-RU" sz="3200"/>
          </a:p>
        </p:txBody>
      </p:sp>
      <p:pic>
        <p:nvPicPr>
          <p:cNvPr id="19" name="3" descr="preencoded.png">
            <a:extLst>
              <a:ext uri="{FF2B5EF4-FFF2-40B4-BE49-F238E27FC236}">
                <a16:creationId xmlns:a16="http://schemas.microsoft.com/office/drawing/2014/main" id="{56E12642-099F-7354-4801-245EC016729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88149" b="61089"/>
          <a:stretch>
            <a:fillRect/>
          </a:stretch>
        </p:blipFill>
        <p:spPr>
          <a:xfrm>
            <a:off x="534296" y="1469017"/>
            <a:ext cx="950413" cy="707886"/>
          </a:xfrm>
          <a:prstGeom prst="rect">
            <a:avLst/>
          </a:prstGeom>
        </p:spPr>
      </p:pic>
      <p:sp>
        <p:nvSpPr>
          <p:cNvPr id="21" name="default_name">
            <a:extLst>
              <a:ext uri="{FF2B5EF4-FFF2-40B4-BE49-F238E27FC236}">
                <a16:creationId xmlns:a16="http://schemas.microsoft.com/office/drawing/2014/main" id="{2CF729DD-CEED-E33C-CD7B-E2F636E19028}"/>
              </a:ext>
            </a:extLst>
          </p:cNvPr>
          <p:cNvSpPr/>
          <p:nvPr/>
        </p:nvSpPr>
        <p:spPr>
          <a:xfrm>
            <a:off x="690998" y="1621876"/>
            <a:ext cx="44767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83333"/>
              </a:lnSpc>
              <a:spcAft>
                <a:spcPts val="1800"/>
              </a:spcAft>
              <a:buNone/>
            </a:pPr>
            <a:r>
              <a:rPr lang="ru-RU" sz="2400" b="1" kern="0" spc="-150">
                <a:solidFill>
                  <a:srgbClr val="FFFFFF"/>
                </a:solidFill>
                <a:latin typeface="Styrene A Bold" pitchFamily="34" charset="0"/>
                <a:ea typeface="Styrene A Bold" pitchFamily="34" charset="-122"/>
                <a:cs typeface="Styrene A Bold" pitchFamily="34" charset="-120"/>
              </a:rPr>
              <a:t>01</a:t>
            </a:r>
            <a:endParaRPr lang="en-US" sz="2400"/>
          </a:p>
        </p:txBody>
      </p:sp>
      <p:sp>
        <p:nvSpPr>
          <p:cNvPr id="40" name="Text 1">
            <a:extLst>
              <a:ext uri="{FF2B5EF4-FFF2-40B4-BE49-F238E27FC236}">
                <a16:creationId xmlns:a16="http://schemas.microsoft.com/office/drawing/2014/main" id="{459834D9-4B3A-5D42-A049-5ABCA4047765}"/>
              </a:ext>
            </a:extLst>
          </p:cNvPr>
          <p:cNvSpPr txBox="1"/>
          <p:nvPr/>
        </p:nvSpPr>
        <p:spPr>
          <a:xfrm>
            <a:off x="534296" y="2685718"/>
            <a:ext cx="11261464" cy="3895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ru-RU" sz="34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	</a:t>
            </a:r>
            <a:r>
              <a:rPr lang="ru-RU" sz="3400">
                <a:solidFill>
                  <a:srgbClr val="0B1733"/>
                </a:solidFill>
                <a:latin typeface="VTB Group UI Semi Bold" panose="020B0603050504020204" pitchFamily="34" charset="-52"/>
                <a:ea typeface="VTB Group UI Semi Bold" pitchFamily="34" charset="-122"/>
                <a:cs typeface="VTB Group UI Semi Bold" pitchFamily="34" charset="-120"/>
              </a:rPr>
              <a:t>Где живут доски</a:t>
            </a:r>
            <a:r>
              <a:rPr lang="en-US" sz="3400">
                <a:solidFill>
                  <a:srgbClr val="0B1733"/>
                </a:solidFill>
                <a:latin typeface="VTB Group UI Semi Bold" panose="020B0603050504020204" pitchFamily="34" charset="-52"/>
                <a:ea typeface="VTB Group UI Semi Bold" pitchFamily="34" charset="-122"/>
                <a:cs typeface="VTB Group UI Semi Bold" pitchFamily="34" charset="-120"/>
              </a:rPr>
              <a:t>?</a:t>
            </a:r>
            <a:r>
              <a:rPr lang="ru-RU" sz="34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 </a:t>
            </a:r>
            <a:endParaRPr lang="en-US" sz="3400">
              <a:solidFill>
                <a:srgbClr val="0B1733"/>
              </a:solidFill>
              <a:latin typeface="VTB Group UI Book" panose="020B0503040504020204" pitchFamily="34" charset="-52"/>
              <a:ea typeface="VTB Group UI Semi Bold" pitchFamily="34" charset="-122"/>
              <a:cs typeface="VTB Group UI Semi Bold" pitchFamily="34" charset="-120"/>
            </a:endParaRPr>
          </a:p>
          <a:p>
            <a:pPr marL="0" indent="0">
              <a:buNone/>
            </a:pPr>
            <a:r>
              <a:rPr lang="en-US" sz="34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1) </a:t>
            </a:r>
            <a:r>
              <a:rPr lang="ru-RU" sz="34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В пространстве создателя (дежурный создавший ВКС)</a:t>
            </a:r>
            <a:br>
              <a:rPr lang="ru-RU" sz="34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</a:br>
            <a:r>
              <a:rPr lang="ru-RU" sz="3400">
                <a:solidFill>
                  <a:schemeClr val="tx1">
                    <a:lumMod val="95000"/>
                    <a:lumOff val="5000"/>
                  </a:schemeClr>
                </a:solidFill>
                <a:highlight>
                  <a:srgbClr val="00FF00"/>
                </a:highlight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2) Каждая доска привязана к комнате </a:t>
            </a:r>
            <a:r>
              <a:rPr lang="en-US" sz="3400">
                <a:solidFill>
                  <a:schemeClr val="tx1">
                    <a:lumMod val="95000"/>
                    <a:lumOff val="5000"/>
                  </a:schemeClr>
                </a:solidFill>
                <a:highlight>
                  <a:srgbClr val="00FF00"/>
                </a:highlight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DION’</a:t>
            </a:r>
            <a:r>
              <a:rPr lang="ru-RU" sz="3400">
                <a:solidFill>
                  <a:schemeClr val="tx1">
                    <a:lumMod val="95000"/>
                    <a:lumOff val="5000"/>
                  </a:schemeClr>
                </a:solidFill>
                <a:highlight>
                  <a:srgbClr val="00FF00"/>
                </a:highlight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а, при инициализации ВКС - предыдущее состояние доски бэкапится, в текущем – очищает доску, и заводит информацию на неё по шаблону. </a:t>
            </a:r>
          </a:p>
          <a:p>
            <a:pPr marL="0" indent="0">
              <a:buNone/>
            </a:pPr>
            <a:r>
              <a:rPr lang="ru-RU" sz="34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	</a:t>
            </a:r>
            <a:endParaRPr lang="ru-RU" sz="3400">
              <a:solidFill>
                <a:srgbClr val="0B1733"/>
              </a:solidFill>
              <a:latin typeface="VTB Group UI Book" panose="020B0503040504020204" pitchFamily="34" charset="-52"/>
            </a:endParaRPr>
          </a:p>
          <a:p>
            <a:pPr marL="0" indent="0">
              <a:buNone/>
            </a:pPr>
            <a:endParaRPr lang="en-US" sz="3400" dirty="0">
              <a:latin typeface="VTB Group UI Book" panose="020B0503040504020204" pitchFamily="34" charset="-52"/>
            </a:endParaRPr>
          </a:p>
        </p:txBody>
      </p:sp>
      <p:pic>
        <p:nvPicPr>
          <p:cNvPr id="42" name="3" descr="preencoded.png">
            <a:extLst>
              <a:ext uri="{FF2B5EF4-FFF2-40B4-BE49-F238E27FC236}">
                <a16:creationId xmlns:a16="http://schemas.microsoft.com/office/drawing/2014/main" id="{5956452E-05DA-E65F-2322-F5081F8C6D1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88149" b="61089"/>
          <a:stretch>
            <a:fillRect/>
          </a:stretch>
        </p:blipFill>
        <p:spPr>
          <a:xfrm>
            <a:off x="534296" y="2699707"/>
            <a:ext cx="950413" cy="707886"/>
          </a:xfrm>
          <a:prstGeom prst="rect">
            <a:avLst/>
          </a:prstGeom>
        </p:spPr>
      </p:pic>
      <p:sp>
        <p:nvSpPr>
          <p:cNvPr id="44" name="default_name">
            <a:extLst>
              <a:ext uri="{FF2B5EF4-FFF2-40B4-BE49-F238E27FC236}">
                <a16:creationId xmlns:a16="http://schemas.microsoft.com/office/drawing/2014/main" id="{E7E6CCDE-B907-46C8-D38E-E054C637D622}"/>
              </a:ext>
            </a:extLst>
          </p:cNvPr>
          <p:cNvSpPr/>
          <p:nvPr/>
        </p:nvSpPr>
        <p:spPr>
          <a:xfrm>
            <a:off x="690998" y="2852566"/>
            <a:ext cx="44767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83333"/>
              </a:lnSpc>
              <a:spcAft>
                <a:spcPts val="1800"/>
              </a:spcAft>
              <a:buNone/>
            </a:pPr>
            <a:r>
              <a:rPr lang="ru-RU" sz="2400" b="1" kern="0" spc="-150">
                <a:solidFill>
                  <a:srgbClr val="FFFFFF"/>
                </a:solidFill>
                <a:latin typeface="Styrene A Bold" pitchFamily="34" charset="0"/>
                <a:ea typeface="Styrene A Bold" pitchFamily="34" charset="-122"/>
                <a:cs typeface="Styrene A Bold" pitchFamily="34" charset="-120"/>
              </a:rPr>
              <a:t>02</a:t>
            </a:r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32669598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DD99BD0-5940-F397-5F57-77C433D353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609F81C2-372B-AC05-AE3A-96E725C04E45}"/>
              </a:ext>
            </a:extLst>
          </p:cNvPr>
          <p:cNvSpPr txBox="1"/>
          <p:nvPr/>
        </p:nvSpPr>
        <p:spPr>
          <a:xfrm>
            <a:off x="534296" y="519363"/>
            <a:ext cx="11261464" cy="35422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ru-RU" sz="34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	</a:t>
            </a:r>
            <a:r>
              <a:rPr lang="ru-RU" sz="3400">
                <a:solidFill>
                  <a:srgbClr val="0B1733"/>
                </a:solidFill>
                <a:latin typeface="VTB Group UI Semi Bold" panose="020B0603050504020204" pitchFamily="34" charset="-52"/>
                <a:ea typeface="VTB Group UI Semi Bold" pitchFamily="34" charset="-122"/>
                <a:cs typeface="VTB Group UI Semi Bold" pitchFamily="34" charset="-120"/>
              </a:rPr>
              <a:t>Срок годности ссылки.</a:t>
            </a:r>
          </a:p>
          <a:p>
            <a:pPr marL="0" indent="0">
              <a:buNone/>
            </a:pPr>
            <a:r>
              <a:rPr lang="ru-RU" sz="34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Нужен ли доступ после ВКС к доске участникам</a:t>
            </a:r>
            <a:r>
              <a:rPr lang="en-US" sz="34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?</a:t>
            </a:r>
            <a:br>
              <a:rPr lang="en-US" sz="34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</a:br>
            <a:r>
              <a:rPr lang="ru-RU" sz="34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1) Нет</a:t>
            </a:r>
          </a:p>
          <a:p>
            <a:pPr marL="0" indent="0">
              <a:buNone/>
            </a:pPr>
            <a:r>
              <a:rPr lang="ru-RU" sz="34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2) Да, после ВКС у участника есть функция просмотра финального содержания доски в бэкапе, без прав на изменение.  </a:t>
            </a:r>
          </a:p>
          <a:p>
            <a:pPr marL="0" indent="0">
              <a:buNone/>
            </a:pPr>
            <a:br>
              <a:rPr lang="ru-RU" sz="34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</a:br>
            <a:endParaRPr lang="ru-RU" sz="3400">
              <a:solidFill>
                <a:srgbClr val="0B1733"/>
              </a:solidFill>
              <a:latin typeface="VTB Group UI Book" panose="020B0503040504020204" pitchFamily="34" charset="-52"/>
              <a:ea typeface="VTB Group UI Semi Bold" pitchFamily="34" charset="-122"/>
              <a:cs typeface="VTB Group UI Semi Bold" pitchFamily="34" charset="-120"/>
            </a:endParaRPr>
          </a:p>
          <a:p>
            <a:pPr marL="0" indent="0">
              <a:buNone/>
            </a:pPr>
            <a:r>
              <a:rPr lang="ru-RU" sz="34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	</a:t>
            </a:r>
            <a:endParaRPr lang="ru-RU" sz="3400">
              <a:solidFill>
                <a:srgbClr val="0B1733"/>
              </a:solidFill>
              <a:latin typeface="VTB Group UI Book" panose="020B0503040504020204" pitchFamily="34" charset="-52"/>
            </a:endParaRPr>
          </a:p>
          <a:p>
            <a:pPr marL="0" indent="0">
              <a:buNone/>
            </a:pPr>
            <a:endParaRPr lang="en-US" sz="3400" dirty="0">
              <a:latin typeface="VTB Group UI Book" panose="020B0503040504020204" pitchFamily="34" charset="-52"/>
            </a:endParaRPr>
          </a:p>
        </p:txBody>
      </p:sp>
      <p:pic>
        <p:nvPicPr>
          <p:cNvPr id="19" name="3" descr="preencoded.png">
            <a:extLst>
              <a:ext uri="{FF2B5EF4-FFF2-40B4-BE49-F238E27FC236}">
                <a16:creationId xmlns:a16="http://schemas.microsoft.com/office/drawing/2014/main" id="{E7A78E60-36E5-9C74-1320-79B32126E6B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88149" b="61089"/>
          <a:stretch>
            <a:fillRect/>
          </a:stretch>
        </p:blipFill>
        <p:spPr>
          <a:xfrm>
            <a:off x="534296" y="533352"/>
            <a:ext cx="950413" cy="707886"/>
          </a:xfrm>
          <a:prstGeom prst="rect">
            <a:avLst/>
          </a:prstGeom>
        </p:spPr>
      </p:pic>
      <p:sp>
        <p:nvSpPr>
          <p:cNvPr id="21" name="default_name">
            <a:extLst>
              <a:ext uri="{FF2B5EF4-FFF2-40B4-BE49-F238E27FC236}">
                <a16:creationId xmlns:a16="http://schemas.microsoft.com/office/drawing/2014/main" id="{8EFA2501-846C-E456-9F8B-CEF5002D11F8}"/>
              </a:ext>
            </a:extLst>
          </p:cNvPr>
          <p:cNvSpPr/>
          <p:nvPr/>
        </p:nvSpPr>
        <p:spPr>
          <a:xfrm>
            <a:off x="690998" y="686211"/>
            <a:ext cx="44767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83333"/>
              </a:lnSpc>
              <a:spcAft>
                <a:spcPts val="1800"/>
              </a:spcAft>
              <a:buNone/>
            </a:pPr>
            <a:r>
              <a:rPr lang="ru-RU" sz="2400" b="1" kern="0" spc="-150">
                <a:solidFill>
                  <a:srgbClr val="FFFFFF"/>
                </a:solidFill>
                <a:latin typeface="Styrene A Bold" pitchFamily="34" charset="0"/>
                <a:ea typeface="Styrene A Bold" pitchFamily="34" charset="-122"/>
                <a:cs typeface="Styrene A Bold" pitchFamily="34" charset="-120"/>
              </a:rPr>
              <a:t>03</a:t>
            </a:r>
            <a:endParaRPr lang="en-US" sz="2400"/>
          </a:p>
        </p:txBody>
      </p:sp>
      <p:sp>
        <p:nvSpPr>
          <p:cNvPr id="40" name="Text 1">
            <a:extLst>
              <a:ext uri="{FF2B5EF4-FFF2-40B4-BE49-F238E27FC236}">
                <a16:creationId xmlns:a16="http://schemas.microsoft.com/office/drawing/2014/main" id="{5FAECE51-236A-A3A4-0D30-F4490135E962}"/>
              </a:ext>
            </a:extLst>
          </p:cNvPr>
          <p:cNvSpPr txBox="1"/>
          <p:nvPr/>
        </p:nvSpPr>
        <p:spPr>
          <a:xfrm>
            <a:off x="534296" y="4092572"/>
            <a:ext cx="11261464" cy="3895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ru-RU" sz="34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	</a:t>
            </a:r>
            <a:r>
              <a:rPr lang="ru-RU" sz="3400">
                <a:solidFill>
                  <a:srgbClr val="0B1733"/>
                </a:solidFill>
                <a:latin typeface="VTB Group UI Semi Bold" panose="020B0603050504020204" pitchFamily="34" charset="-52"/>
                <a:ea typeface="VTB Group UI Semi Bold" pitchFamily="34" charset="-122"/>
                <a:cs typeface="VTB Group UI Semi Bold" pitchFamily="34" charset="-120"/>
              </a:rPr>
              <a:t>Личное пространство. </a:t>
            </a:r>
          </a:p>
          <a:p>
            <a:pPr marL="0" indent="0">
              <a:buNone/>
            </a:pPr>
            <a:r>
              <a:rPr lang="ru-RU" sz="3400">
                <a:solidFill>
                  <a:srgbClr val="0B1733"/>
                </a:solidFill>
                <a:highlight>
                  <a:srgbClr val="FFFF00"/>
                </a:highlight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Необходимо ли предусмотреть копирование доски в личное пространство</a:t>
            </a:r>
            <a:r>
              <a:rPr lang="en-US" sz="3400">
                <a:solidFill>
                  <a:srgbClr val="0B1733"/>
                </a:solidFill>
                <a:highlight>
                  <a:srgbClr val="FFFF00"/>
                </a:highlight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? </a:t>
            </a:r>
            <a:r>
              <a:rPr lang="ru-RU" sz="3400">
                <a:solidFill>
                  <a:srgbClr val="0B1733"/>
                </a:solidFill>
                <a:highlight>
                  <a:srgbClr val="FFFF00"/>
                </a:highlight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Там уже есть возможность изменять личную копию.</a:t>
            </a:r>
            <a:endParaRPr lang="ru-RU" sz="3400">
              <a:solidFill>
                <a:schemeClr val="tx1">
                  <a:lumMod val="95000"/>
                  <a:lumOff val="5000"/>
                </a:schemeClr>
              </a:solidFill>
              <a:highlight>
                <a:srgbClr val="FFFF00"/>
              </a:highlight>
              <a:latin typeface="VTB Group UI Book" panose="020B0503040504020204" pitchFamily="34" charset="-52"/>
              <a:ea typeface="VTB Group UI Semi Bold" pitchFamily="34" charset="-122"/>
              <a:cs typeface="VTB Group UI Semi Bold" pitchFamily="34" charset="-120"/>
            </a:endParaRPr>
          </a:p>
          <a:p>
            <a:pPr marL="0" indent="0">
              <a:buNone/>
            </a:pPr>
            <a:r>
              <a:rPr lang="ru-RU" sz="34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	</a:t>
            </a:r>
            <a:endParaRPr lang="ru-RU" sz="3400">
              <a:solidFill>
                <a:srgbClr val="0B1733"/>
              </a:solidFill>
              <a:latin typeface="VTB Group UI Book" panose="020B0503040504020204" pitchFamily="34" charset="-52"/>
            </a:endParaRPr>
          </a:p>
          <a:p>
            <a:pPr marL="0" indent="0">
              <a:buNone/>
            </a:pPr>
            <a:endParaRPr lang="en-US" sz="3400" dirty="0">
              <a:latin typeface="VTB Group UI Book" panose="020B0503040504020204" pitchFamily="34" charset="-52"/>
            </a:endParaRPr>
          </a:p>
        </p:txBody>
      </p:sp>
      <p:pic>
        <p:nvPicPr>
          <p:cNvPr id="42" name="3" descr="preencoded.png">
            <a:extLst>
              <a:ext uri="{FF2B5EF4-FFF2-40B4-BE49-F238E27FC236}">
                <a16:creationId xmlns:a16="http://schemas.microsoft.com/office/drawing/2014/main" id="{48931F49-4AA6-D283-21DC-73CB8579363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88149" b="61089"/>
          <a:stretch>
            <a:fillRect/>
          </a:stretch>
        </p:blipFill>
        <p:spPr>
          <a:xfrm>
            <a:off x="534296" y="4106561"/>
            <a:ext cx="950413" cy="707886"/>
          </a:xfrm>
          <a:prstGeom prst="rect">
            <a:avLst/>
          </a:prstGeom>
        </p:spPr>
      </p:pic>
      <p:sp>
        <p:nvSpPr>
          <p:cNvPr id="44" name="default_name">
            <a:extLst>
              <a:ext uri="{FF2B5EF4-FFF2-40B4-BE49-F238E27FC236}">
                <a16:creationId xmlns:a16="http://schemas.microsoft.com/office/drawing/2014/main" id="{7734761B-8214-794D-1DE5-5BDB7C1CCA61}"/>
              </a:ext>
            </a:extLst>
          </p:cNvPr>
          <p:cNvSpPr/>
          <p:nvPr/>
        </p:nvSpPr>
        <p:spPr>
          <a:xfrm>
            <a:off x="690998" y="4259420"/>
            <a:ext cx="44767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83333"/>
              </a:lnSpc>
              <a:spcAft>
                <a:spcPts val="1800"/>
              </a:spcAft>
              <a:buNone/>
            </a:pPr>
            <a:r>
              <a:rPr lang="ru-RU" sz="2400" b="1" kern="0" spc="-150">
                <a:solidFill>
                  <a:srgbClr val="FFFFFF"/>
                </a:solidFill>
                <a:latin typeface="Styrene A Bold" pitchFamily="34" charset="0"/>
                <a:ea typeface="Styrene A Bold" pitchFamily="34" charset="-122"/>
                <a:cs typeface="Styrene A Bold" pitchFamily="34" charset="-120"/>
              </a:rPr>
              <a:t>04</a:t>
            </a:r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16912686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F1BCA0-972F-976A-E325-772CE074A4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1CBF5515-6C19-37B9-C8B1-66CC532CDFBA}"/>
              </a:ext>
            </a:extLst>
          </p:cNvPr>
          <p:cNvSpPr txBox="1"/>
          <p:nvPr/>
        </p:nvSpPr>
        <p:spPr>
          <a:xfrm>
            <a:off x="534296" y="519362"/>
            <a:ext cx="11261464" cy="5911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ru-RU" sz="34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	</a:t>
            </a:r>
            <a:r>
              <a:rPr lang="ru-RU" sz="3400">
                <a:solidFill>
                  <a:srgbClr val="0B1733"/>
                </a:solidFill>
                <a:latin typeface="VTB Group UI Semi Bold" panose="020B0603050504020204" pitchFamily="34" charset="-52"/>
                <a:ea typeface="VTB Group UI Semi Bold" pitchFamily="34" charset="-122"/>
                <a:cs typeface="VTB Group UI Semi Bold" pitchFamily="34" charset="-120"/>
              </a:rPr>
              <a:t>Доступ внутри контура или только внешний.</a:t>
            </a:r>
          </a:p>
          <a:p>
            <a:pPr marL="0" indent="0">
              <a:buNone/>
            </a:pPr>
            <a:r>
              <a:rPr lang="ru-RU" sz="34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Компромис с доступом из обоих контуров не возможен.</a:t>
            </a:r>
            <a:br>
              <a:rPr lang="ru-RU" sz="34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</a:br>
            <a:r>
              <a:rPr lang="ru-RU" sz="34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1)Только внешний</a:t>
            </a:r>
            <a:r>
              <a:rPr lang="en-US" sz="34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: </a:t>
            </a:r>
            <a:r>
              <a:rPr lang="ru-RU" sz="34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Дежурные ведут ВКС через свои устройства без </a:t>
            </a:r>
            <a:r>
              <a:rPr lang="en-US" sz="34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VPN? </a:t>
            </a:r>
            <a:r>
              <a:rPr lang="ru-RU" sz="34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Сотрудники подключаются к ВКС с своих устройств (требуется анализ). </a:t>
            </a:r>
          </a:p>
          <a:p>
            <a:pPr marL="0" indent="0">
              <a:buNone/>
            </a:pPr>
            <a:r>
              <a:rPr lang="ru-RU" sz="3400">
                <a:solidFill>
                  <a:srgbClr val="0B1733"/>
                </a:solidFill>
                <a:highlight>
                  <a:srgbClr val="00FF00"/>
                </a:highlight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2)Только внутри контора</a:t>
            </a:r>
            <a:r>
              <a:rPr lang="en-US" sz="3400">
                <a:solidFill>
                  <a:srgbClr val="0B1733"/>
                </a:solidFill>
                <a:highlight>
                  <a:srgbClr val="00FF00"/>
                </a:highlight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:</a:t>
            </a:r>
            <a:r>
              <a:rPr lang="ru-RU" sz="3400">
                <a:solidFill>
                  <a:srgbClr val="0B1733"/>
                </a:solidFill>
                <a:highlight>
                  <a:srgbClr val="00FF00"/>
                </a:highlight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 Полноценная интеграция с Оповещатором. Доступ к доске необходим не всем, преимущественно дежурным для сопровождения ВКС.</a:t>
            </a:r>
          </a:p>
          <a:p>
            <a:pPr marL="0" indent="0">
              <a:buNone/>
            </a:pPr>
            <a:br>
              <a:rPr lang="ru-RU" sz="34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</a:br>
            <a:endParaRPr lang="ru-RU" sz="3400">
              <a:solidFill>
                <a:srgbClr val="0B1733"/>
              </a:solidFill>
              <a:latin typeface="VTB Group UI Book" panose="020B0503040504020204" pitchFamily="34" charset="-52"/>
              <a:ea typeface="VTB Group UI Semi Bold" pitchFamily="34" charset="-122"/>
              <a:cs typeface="VTB Group UI Semi Bold" pitchFamily="34" charset="-120"/>
            </a:endParaRPr>
          </a:p>
          <a:p>
            <a:pPr marL="0" indent="0">
              <a:buNone/>
            </a:pPr>
            <a:r>
              <a:rPr lang="ru-RU" sz="34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	</a:t>
            </a:r>
            <a:endParaRPr lang="ru-RU" sz="3400">
              <a:solidFill>
                <a:srgbClr val="0B1733"/>
              </a:solidFill>
              <a:latin typeface="VTB Group UI Book" panose="020B0503040504020204" pitchFamily="34" charset="-52"/>
            </a:endParaRPr>
          </a:p>
          <a:p>
            <a:pPr marL="0" indent="0">
              <a:buNone/>
            </a:pPr>
            <a:endParaRPr lang="en-US" sz="3400" dirty="0">
              <a:latin typeface="VTB Group UI Book" panose="020B0503040504020204" pitchFamily="34" charset="-52"/>
            </a:endParaRPr>
          </a:p>
        </p:txBody>
      </p:sp>
      <p:pic>
        <p:nvPicPr>
          <p:cNvPr id="19" name="3" descr="preencoded.png">
            <a:extLst>
              <a:ext uri="{FF2B5EF4-FFF2-40B4-BE49-F238E27FC236}">
                <a16:creationId xmlns:a16="http://schemas.microsoft.com/office/drawing/2014/main" id="{340CC98B-7B9B-3C4C-8D72-FBDD7F5F79D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88149" b="61089"/>
          <a:stretch>
            <a:fillRect/>
          </a:stretch>
        </p:blipFill>
        <p:spPr>
          <a:xfrm>
            <a:off x="534296" y="533352"/>
            <a:ext cx="950413" cy="707886"/>
          </a:xfrm>
          <a:prstGeom prst="rect">
            <a:avLst/>
          </a:prstGeom>
        </p:spPr>
      </p:pic>
      <p:sp>
        <p:nvSpPr>
          <p:cNvPr id="21" name="default_name">
            <a:extLst>
              <a:ext uri="{FF2B5EF4-FFF2-40B4-BE49-F238E27FC236}">
                <a16:creationId xmlns:a16="http://schemas.microsoft.com/office/drawing/2014/main" id="{49BF0672-14DD-971D-551D-3E1286D0AD80}"/>
              </a:ext>
            </a:extLst>
          </p:cNvPr>
          <p:cNvSpPr/>
          <p:nvPr/>
        </p:nvSpPr>
        <p:spPr>
          <a:xfrm>
            <a:off x="690998" y="686211"/>
            <a:ext cx="44767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83333"/>
              </a:lnSpc>
              <a:spcAft>
                <a:spcPts val="1800"/>
              </a:spcAft>
              <a:buNone/>
            </a:pPr>
            <a:r>
              <a:rPr lang="ru-RU" sz="2400" b="1" kern="0" spc="-150">
                <a:solidFill>
                  <a:srgbClr val="FFFFFF"/>
                </a:solidFill>
                <a:latin typeface="Styrene A Bold" pitchFamily="34" charset="0"/>
                <a:ea typeface="Styrene A Bold" pitchFamily="34" charset="-122"/>
                <a:cs typeface="Styrene A Bold" pitchFamily="34" charset="-120"/>
              </a:rPr>
              <a:t>05</a:t>
            </a:r>
            <a:endParaRPr lang="en-US" sz="2400"/>
          </a:p>
        </p:txBody>
      </p:sp>
      <p:sp>
        <p:nvSpPr>
          <p:cNvPr id="44" name="default_name">
            <a:extLst>
              <a:ext uri="{FF2B5EF4-FFF2-40B4-BE49-F238E27FC236}">
                <a16:creationId xmlns:a16="http://schemas.microsoft.com/office/drawing/2014/main" id="{1B6E22D4-50B7-5574-DADA-57F4C710405F}"/>
              </a:ext>
            </a:extLst>
          </p:cNvPr>
          <p:cNvSpPr/>
          <p:nvPr/>
        </p:nvSpPr>
        <p:spPr>
          <a:xfrm>
            <a:off x="690998" y="4259420"/>
            <a:ext cx="44767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83333"/>
              </a:lnSpc>
              <a:spcAft>
                <a:spcPts val="1800"/>
              </a:spcAft>
              <a:buNone/>
            </a:pPr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7541284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655320" y="27432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3400" dirty="0"/>
          </a:p>
        </p:txBody>
      </p:sp>
      <p:pic>
        <p:nvPicPr>
          <p:cNvPr id="5" name="Image 0" descr="/tmp/claude-0/-home-claude/3e2c67bf-185e-57a7-b169-f73d7abaeeba/scratchpad/flow/deck2/hol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556895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740E426-526A-F00C-6B71-8372EEB4D5EA}"/>
              </a:ext>
            </a:extLst>
          </p:cNvPr>
          <p:cNvSpPr txBox="1"/>
          <p:nvPr/>
        </p:nvSpPr>
        <p:spPr>
          <a:xfrm>
            <a:off x="1" y="5529559"/>
            <a:ext cx="12191999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ru-RU" sz="8000">
                <a:solidFill>
                  <a:srgbClr val="0B1733"/>
                </a:solidFill>
                <a:latin typeface="VTB Group UI Semi Bold" pitchFamily="34" charset="0"/>
              </a:rPr>
              <a:t>Аналог</a:t>
            </a:r>
            <a:r>
              <a:rPr lang="en-US" sz="8000">
                <a:solidFill>
                  <a:srgbClr val="0B1733"/>
                </a:solidFill>
                <a:latin typeface="VTB Group UI Semi Bold" pitchFamily="34" charset="0"/>
              </a:rPr>
              <a:t>#1 Holst</a:t>
            </a:r>
            <a:endParaRPr lang="en-US" sz="8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B229D1-6730-6FED-67C7-A311CE6A33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BB7CAC6B-C46B-89C4-2765-FA4CB113F8FB}"/>
              </a:ext>
            </a:extLst>
          </p:cNvPr>
          <p:cNvSpPr txBox="1"/>
          <p:nvPr/>
        </p:nvSpPr>
        <p:spPr>
          <a:xfrm>
            <a:off x="655320" y="27432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3400" dirty="0"/>
          </a:p>
        </p:txBody>
      </p:sp>
      <p:pic>
        <p:nvPicPr>
          <p:cNvPr id="8" name="Image 1" descr="/tmp/claude-0/-home-claude/3e2c67bf-185e-57a7-b169-f73d7abaeeba/scratchpad/flow/deck2/miro.png">
            <a:extLst>
              <a:ext uri="{FF2B5EF4-FFF2-40B4-BE49-F238E27FC236}">
                <a16:creationId xmlns:a16="http://schemas.microsoft.com/office/drawing/2014/main" id="{A7FA4C60-B0FB-D700-2FE1-F17BE6B7BF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220774" cy="558209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C506A6A-4E49-1190-C714-766A15A6D0F3}"/>
              </a:ext>
            </a:extLst>
          </p:cNvPr>
          <p:cNvSpPr txBox="1"/>
          <p:nvPr/>
        </p:nvSpPr>
        <p:spPr>
          <a:xfrm>
            <a:off x="1" y="5529559"/>
            <a:ext cx="12191999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ru-RU" sz="8000">
                <a:solidFill>
                  <a:srgbClr val="0B1733"/>
                </a:solidFill>
                <a:latin typeface="VTB Group UI Semi Bold" pitchFamily="34" charset="0"/>
              </a:rPr>
              <a:t>Аналог</a:t>
            </a:r>
            <a:r>
              <a:rPr lang="en-US" sz="8000">
                <a:solidFill>
                  <a:srgbClr val="0B1733"/>
                </a:solidFill>
                <a:latin typeface="VTB Group UI Semi Bold" pitchFamily="34" charset="0"/>
              </a:rPr>
              <a:t>#2 Miro</a:t>
            </a:r>
            <a:endParaRPr lang="en-US" sz="8000" dirty="0"/>
          </a:p>
        </p:txBody>
      </p:sp>
    </p:spTree>
    <p:extLst>
      <p:ext uri="{BB962C8B-B14F-4D97-AF65-F5344CB8AC3E}">
        <p14:creationId xmlns:p14="http://schemas.microsoft.com/office/powerpoint/2010/main" val="19041697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FEC0BB-5582-DD07-CD76-97CA45AEB1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0559BB4B-8A00-7E19-C9BE-DE483CE0625A}"/>
              </a:ext>
            </a:extLst>
          </p:cNvPr>
          <p:cNvSpPr txBox="1"/>
          <p:nvPr/>
        </p:nvSpPr>
        <p:spPr>
          <a:xfrm>
            <a:off x="655320" y="27432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3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E22D59-478C-77C1-BB90-41735B4AED69}"/>
              </a:ext>
            </a:extLst>
          </p:cNvPr>
          <p:cNvSpPr txBox="1"/>
          <p:nvPr/>
        </p:nvSpPr>
        <p:spPr>
          <a:xfrm>
            <a:off x="1228946" y="5519555"/>
            <a:ext cx="9935239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ru-RU" sz="8000">
                <a:solidFill>
                  <a:srgbClr val="0B1733"/>
                </a:solidFill>
                <a:latin typeface="VTB Group UI Semi Bold" pitchFamily="34" charset="0"/>
              </a:rPr>
              <a:t>Инструментарий</a:t>
            </a:r>
            <a:endParaRPr lang="en-US" sz="8000" dirty="0"/>
          </a:p>
        </p:txBody>
      </p:sp>
      <p:pic>
        <p:nvPicPr>
          <p:cNvPr id="5" name="Picture 4" descr="toolb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000" y="380000"/>
            <a:ext cx="1306102" cy="460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966102" y="845037"/>
            <a:ext cx="1700000" cy="25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>
                <a:solidFill>
                  <a:srgbClr val="0B1733"/>
                </a:solidFill>
                <a:latin typeface="VTB Group UI Book"/>
              </a:rPr>
              <a:t>Выделение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66102" y="1486631"/>
            <a:ext cx="1700000" cy="25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>
                <a:solidFill>
                  <a:srgbClr val="0B1733"/>
                </a:solidFill>
                <a:latin typeface="VTB Group UI Book"/>
              </a:rPr>
              <a:t>Перемещение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66102" y="2214153"/>
            <a:ext cx="1700000" cy="25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>
                <a:solidFill>
                  <a:srgbClr val="0B1733"/>
                </a:solidFill>
                <a:latin typeface="VTB Group UI Book"/>
              </a:rPr>
              <a:t>Стикер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66102" y="2844290"/>
            <a:ext cx="1700000" cy="25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>
                <a:solidFill>
                  <a:srgbClr val="0B1733"/>
                </a:solidFill>
                <a:latin typeface="VTB Group UI Book"/>
              </a:rPr>
              <a:t>Текст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66102" y="3503069"/>
            <a:ext cx="1700000" cy="25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>
                <a:solidFill>
                  <a:srgbClr val="0B1733"/>
                </a:solidFill>
                <a:latin typeface="VTB Group UI Book"/>
              </a:rPr>
              <a:t>Рисование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6102" y="4167577"/>
            <a:ext cx="1700000" cy="25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>
                <a:solidFill>
                  <a:srgbClr val="0B1733"/>
                </a:solidFill>
                <a:latin typeface="VTB Group UI Book"/>
              </a:rPr>
              <a:t>Реакции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0000" y="5020000"/>
            <a:ext cx="2400000" cy="208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>
                <a:solidFill>
                  <a:srgbClr val="6B778C"/>
                </a:solidFill>
                <a:latin typeface="VTB Group UI Book"/>
              </a:rPr>
              <a:t>Левая панель</a:t>
            </a:r>
          </a:p>
        </p:txBody>
      </p:sp>
      <p:pic>
        <p:nvPicPr>
          <p:cNvPr id="13" name="Picture 12" descr="head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0000" y="380000"/>
            <a:ext cx="3700000" cy="8649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900000" y="1244968"/>
            <a:ext cx="3700000" cy="208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>
                <a:solidFill>
                  <a:srgbClr val="6B778C"/>
                </a:solidFill>
                <a:latin typeface="VTB Group UI Book"/>
              </a:rPr>
              <a:t>Меню, название, экспорт,</a:t>
            </a:r>
          </a:p>
          <a:p>
            <a:r>
              <a:rPr sz="1300">
                <a:solidFill>
                  <a:srgbClr val="6B778C"/>
                </a:solidFill>
                <a:latin typeface="VTB Group UI Book"/>
              </a:rPr>
              <a:t>отменить / повторить</a:t>
            </a:r>
          </a:p>
        </p:txBody>
      </p:sp>
      <p:pic>
        <p:nvPicPr>
          <p:cNvPr id="15" name="Picture 14" descr="zoo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00000" y="420000"/>
            <a:ext cx="1750000" cy="66435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50000" y="1244968"/>
            <a:ext cx="1600000" cy="208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>
                <a:solidFill>
                  <a:srgbClr val="6B778C"/>
                </a:solidFill>
                <a:latin typeface="VTB Group UI Book"/>
              </a:rPr>
              <a:t>Масштаб</a:t>
            </a:r>
          </a:p>
        </p:txBody>
      </p:sp>
      <p:pic>
        <p:nvPicPr>
          <p:cNvPr id="17" name="Picture 16" descr="tim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50000" y="380000"/>
            <a:ext cx="2500000" cy="76936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550000" y="1244968"/>
            <a:ext cx="2000000" cy="208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>
                <a:solidFill>
                  <a:srgbClr val="6B778C"/>
                </a:solidFill>
                <a:latin typeface="VTB Group UI Book"/>
              </a:rPr>
              <a:t>Таймер обсуждения</a:t>
            </a:r>
          </a:p>
        </p:txBody>
      </p:sp>
      <p:pic>
        <p:nvPicPr>
          <p:cNvPr id="19" name="Picture 18" descr="tex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50000" y="1764968"/>
            <a:ext cx="7950000" cy="843265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900000" y="2608233"/>
            <a:ext cx="7000000" cy="208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>
                <a:solidFill>
                  <a:srgbClr val="6B778C"/>
                </a:solidFill>
                <a:latin typeface="VTB Group UI Book"/>
              </a:rPr>
              <a:t>Текст: шрифт, размер, начертание, списки, цвет, ссылка</a:t>
            </a:r>
          </a:p>
        </p:txBody>
      </p:sp>
      <p:pic>
        <p:nvPicPr>
          <p:cNvPr id="21" name="Picture 20" descr="stick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20000" y="3108233"/>
            <a:ext cx="896148" cy="2241767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856148" y="3969116"/>
            <a:ext cx="1500000" cy="22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>
                <a:solidFill>
                  <a:srgbClr val="0B1733"/>
                </a:solidFill>
                <a:latin typeface="VTB Group UI Book"/>
              </a:rPr>
              <a:t>Стикеры</a:t>
            </a:r>
          </a:p>
          <a:p>
            <a:r>
              <a:rPr sz="1400">
                <a:solidFill>
                  <a:srgbClr val="0B1733"/>
                </a:solidFill>
                <a:latin typeface="VTB Group UI Book"/>
              </a:rPr>
              <a:t>12 цветов</a:t>
            </a:r>
          </a:p>
        </p:txBody>
      </p:sp>
      <p:pic>
        <p:nvPicPr>
          <p:cNvPr id="23" name="Picture 22" descr="draw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00000" y="3108233"/>
            <a:ext cx="482970" cy="2241767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042970" y="3969116"/>
            <a:ext cx="1800000" cy="22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>
                <a:solidFill>
                  <a:srgbClr val="0B1733"/>
                </a:solidFill>
                <a:latin typeface="VTB Group UI Book"/>
              </a:rPr>
              <a:t>Рисование</a:t>
            </a:r>
          </a:p>
          <a:p>
            <a:r>
              <a:rPr sz="1400">
                <a:solidFill>
                  <a:srgbClr val="0B1733"/>
                </a:solidFill>
                <a:latin typeface="VTB Group UI Book"/>
              </a:rPr>
              <a:t>кисти и толщина</a:t>
            </a:r>
          </a:p>
        </p:txBody>
      </p:sp>
      <p:pic>
        <p:nvPicPr>
          <p:cNvPr id="25" name="Picture 24" descr="reac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200000" y="3108233"/>
            <a:ext cx="1298158" cy="2241767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0558158" y="3969116"/>
            <a:ext cx="1500000" cy="22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>
                <a:solidFill>
                  <a:srgbClr val="0B1733"/>
                </a:solidFill>
                <a:latin typeface="VTB Group UI Book"/>
              </a:rPr>
              <a:t>Реакции</a:t>
            </a:r>
          </a:p>
          <a:p>
            <a:r>
              <a:rPr sz="1400">
                <a:solidFill>
                  <a:srgbClr val="0B1733"/>
                </a:solidFill>
                <a:latin typeface="VTB Group UI Book"/>
              </a:rPr>
              <a:t>8 видов</a:t>
            </a:r>
          </a:p>
        </p:txBody>
      </p:sp>
    </p:spTree>
    <p:extLst>
      <p:ext uri="{BB962C8B-B14F-4D97-AF65-F5344CB8AC3E}">
        <p14:creationId xmlns:p14="http://schemas.microsoft.com/office/powerpoint/2010/main" val="13981408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5B874E-0C9B-DFFD-C372-9B37A66942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0" descr="/tmp/claude-0/-home-claude/3e2c67bf-185e-57a7-b169-f73d7abaeeba/scratchpad/flow/deck2/before-3.png">
            <a:extLst>
              <a:ext uri="{FF2B5EF4-FFF2-40B4-BE49-F238E27FC236}">
                <a16:creationId xmlns:a16="http://schemas.microsoft.com/office/drawing/2014/main" id="{00D39074-AF5D-8F14-A476-B064EB9D9D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3717" y="1147360"/>
            <a:ext cx="9664566" cy="543631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8981618-50F0-95D3-CECD-585F1FD365D4}"/>
              </a:ext>
            </a:extLst>
          </p:cNvPr>
          <p:cNvSpPr txBox="1"/>
          <p:nvPr/>
        </p:nvSpPr>
        <p:spPr>
          <a:xfrm>
            <a:off x="993044" y="43788"/>
            <a:ext cx="9935239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8000">
                <a:solidFill>
                  <a:srgbClr val="0B1733"/>
                </a:solidFill>
                <a:latin typeface="VTB Group UI Semi Bold" pitchFamily="34" charset="0"/>
              </a:rPr>
              <a:t>AS IS</a:t>
            </a:r>
            <a:endParaRPr lang="en-US" sz="8000" dirty="0"/>
          </a:p>
        </p:txBody>
      </p:sp>
    </p:spTree>
    <p:extLst>
      <p:ext uri="{BB962C8B-B14F-4D97-AF65-F5344CB8AC3E}">
        <p14:creationId xmlns:p14="http://schemas.microsoft.com/office/powerpoint/2010/main" val="71918394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400000" y="330000"/>
            <a:ext cx="1139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000">
                <a:solidFill>
                  <a:srgbClr val="0B1733"/>
                </a:solidFill>
                <a:latin typeface="VTB Group UI Semi Bold" pitchFamily="34" charset="0"/>
                <a:ea typeface="VTB Group UI Semi Bold" pitchFamily="34" charset="-122"/>
                <a:cs typeface="VTB Group UI Semi Bold" pitchFamily="34" charset="-120"/>
              </a:rPr>
              <a:t>TO BE </a:t>
            </a:r>
            <a:r>
              <a:rPr lang="en-US" sz="3000">
                <a:solidFill>
                  <a:srgbClr val="0B1733"/>
                </a:solidFill>
                <a:latin typeface="VTB Group UI Semi Bold" panose="020B0603050504020204" pitchFamily="34" charset="-52"/>
                <a:ea typeface="VTB Group UI Semi Bold" pitchFamily="34" charset="-122"/>
                <a:cs typeface="VTB Group UI Semi Bold" pitchFamily="34" charset="-120"/>
              </a:rPr>
              <a:t>#</a:t>
            </a:r>
            <a:r>
              <a:rPr lang="ru-RU" sz="3000">
                <a:solidFill>
                  <a:srgbClr val="0B1733"/>
                </a:solidFill>
                <a:latin typeface="VTB Group UI Semi Bold" panose="020B0603050504020204" pitchFamily="34" charset="-52"/>
                <a:ea typeface="VTB Group UI Semi Bold" pitchFamily="34" charset="-122"/>
                <a:cs typeface="VTB Group UI Semi Bold" pitchFamily="34" charset="-120"/>
              </a:rPr>
              <a:t>1</a:t>
            </a:r>
            <a:r>
              <a:rPr lang="en-US" sz="3000">
                <a:solidFill>
                  <a:srgbClr val="0B1733"/>
                </a:solidFill>
                <a:latin typeface="VTB Group UI Semi Bold" panose="020B0603050504020204" pitchFamily="34" charset="-52"/>
                <a:ea typeface="VTB Group UI Semi Bold" pitchFamily="34" charset="-122"/>
                <a:cs typeface="VTB Group UI Semi Bold" pitchFamily="34" charset="-120"/>
              </a:rPr>
              <a:t>:</a:t>
            </a:r>
            <a:r>
              <a:rPr lang="en-US" sz="30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 </a:t>
            </a:r>
            <a:r>
              <a:rPr lang="ru-RU" sz="30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«Включить доску рядом с быстрым набором»</a:t>
            </a:r>
            <a:endParaRPr lang="en-US" sz="3600" dirty="0">
              <a:latin typeface="VTB Group UI Book" panose="020B0503040504020204" pitchFamily="34" charset="-52"/>
            </a:endParaRPr>
          </a:p>
        </p:txBody>
      </p:sp>
      <p:pic>
        <p:nvPicPr>
          <p:cNvPr id="4" name="TO BE 1" descr="tob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6649" y="1250000"/>
            <a:ext cx="9598701" cy="5408000"/>
          </a:xfrm>
          <a:prstGeom prst="rect">
            <a:avLst/>
          </a:prstGeom>
          <a:ln w="9525">
            <a:solidFill>
              <a:srgbClr val="DDE3EC"/>
            </a:solidFill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A6EEE6-8B5C-789A-9314-4FE5FFC0B9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373F64CB-706E-895C-8132-197B0E2C9F79}"/>
              </a:ext>
            </a:extLst>
          </p:cNvPr>
          <p:cNvSpPr txBox="1"/>
          <p:nvPr/>
        </p:nvSpPr>
        <p:spPr>
          <a:xfrm>
            <a:off x="400000" y="330000"/>
            <a:ext cx="1139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000">
                <a:solidFill>
                  <a:srgbClr val="0B1733"/>
                </a:solidFill>
                <a:latin typeface="VTB Group UI Semi Bold" pitchFamily="34" charset="0"/>
                <a:ea typeface="VTB Group UI Semi Bold" pitchFamily="34" charset="-122"/>
                <a:cs typeface="VTB Group UI Semi Bold" pitchFamily="34" charset="-120"/>
              </a:rPr>
              <a:t>TO BE </a:t>
            </a:r>
            <a:r>
              <a:rPr lang="en-US" sz="3000">
                <a:solidFill>
                  <a:srgbClr val="0B1733"/>
                </a:solidFill>
                <a:latin typeface="VTB Group UI Semi Bold" panose="020B0603050504020204" pitchFamily="34" charset="-52"/>
                <a:ea typeface="VTB Group UI Semi Bold" pitchFamily="34" charset="-122"/>
                <a:cs typeface="VTB Group UI Semi Bold" pitchFamily="34" charset="-120"/>
              </a:rPr>
              <a:t>#</a:t>
            </a:r>
            <a:r>
              <a:rPr lang="ru-RU" sz="3000">
                <a:solidFill>
                  <a:srgbClr val="0B1733"/>
                </a:solidFill>
                <a:latin typeface="VTB Group UI Semi Bold" panose="020B0603050504020204" pitchFamily="34" charset="-52"/>
                <a:ea typeface="VTB Group UI Semi Bold" pitchFamily="34" charset="-122"/>
                <a:cs typeface="VTB Group UI Semi Bold" pitchFamily="34" charset="-120"/>
              </a:rPr>
              <a:t>2</a:t>
            </a:r>
            <a:r>
              <a:rPr lang="en-US" sz="3000">
                <a:solidFill>
                  <a:srgbClr val="0B1733"/>
                </a:solidFill>
                <a:latin typeface="VTB Group UI Semi Bold" panose="020B0603050504020204" pitchFamily="34" charset="-52"/>
                <a:ea typeface="VTB Group UI Semi Bold" pitchFamily="34" charset="-122"/>
                <a:cs typeface="VTB Group UI Semi Bold" pitchFamily="34" charset="-120"/>
              </a:rPr>
              <a:t>:</a:t>
            </a:r>
            <a:r>
              <a:rPr lang="en-US" sz="30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 </a:t>
            </a:r>
            <a:r>
              <a:rPr lang="ru-RU" sz="30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«Вместе с ВКС и Доска»</a:t>
            </a:r>
            <a:endParaRPr lang="en-US" sz="3600" dirty="0">
              <a:latin typeface="VTB Group UI Book" panose="020B0503040504020204" pitchFamily="34" charset="-52"/>
            </a:endParaRPr>
          </a:p>
        </p:txBody>
      </p:sp>
      <p:pic>
        <p:nvPicPr>
          <p:cNvPr id="4" name="TO BE 2" descr="tob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6649" y="1250000"/>
            <a:ext cx="9598701" cy="5408000"/>
          </a:xfrm>
          <a:prstGeom prst="rect">
            <a:avLst/>
          </a:prstGeom>
          <a:ln w="9525">
            <a:solidFill>
              <a:srgbClr val="DDE3EC"/>
            </a:solidFill>
          </a:ln>
        </p:spPr>
      </p:pic>
    </p:spTree>
    <p:extLst>
      <p:ext uri="{BB962C8B-B14F-4D97-AF65-F5344CB8AC3E}">
        <p14:creationId xmlns:p14="http://schemas.microsoft.com/office/powerpoint/2010/main" val="29995490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4608CE-262B-604C-7420-CF88A21B2A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5C6C4F66-8E71-A46C-472B-E23022C9FCC8}"/>
              </a:ext>
            </a:extLst>
          </p:cNvPr>
          <p:cNvSpPr txBox="1"/>
          <p:nvPr/>
        </p:nvSpPr>
        <p:spPr>
          <a:xfrm>
            <a:off x="400000" y="330000"/>
            <a:ext cx="1139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000">
                <a:solidFill>
                  <a:srgbClr val="0B1733"/>
                </a:solidFill>
                <a:latin typeface="VTB Group UI Semi Bold" pitchFamily="34" charset="0"/>
                <a:ea typeface="VTB Group UI Semi Bold" pitchFamily="34" charset="-122"/>
                <a:cs typeface="VTB Group UI Semi Bold" pitchFamily="34" charset="-120"/>
              </a:rPr>
              <a:t>TO BE </a:t>
            </a:r>
            <a:r>
              <a:rPr lang="en-US" sz="3000">
                <a:solidFill>
                  <a:srgbClr val="0B1733"/>
                </a:solidFill>
                <a:latin typeface="VTB Group UI Semi Bold" panose="020B0603050504020204" pitchFamily="34" charset="-52"/>
                <a:ea typeface="VTB Group UI Semi Bold" pitchFamily="34" charset="-122"/>
                <a:cs typeface="VTB Group UI Semi Bold" pitchFamily="34" charset="-120"/>
              </a:rPr>
              <a:t>#</a:t>
            </a:r>
            <a:r>
              <a:rPr lang="ru-RU" sz="3000">
                <a:solidFill>
                  <a:srgbClr val="0B1733"/>
                </a:solidFill>
                <a:latin typeface="VTB Group UI Semi Bold" panose="020B0603050504020204" pitchFamily="34" charset="-52"/>
                <a:ea typeface="VTB Group UI Semi Bold" pitchFamily="34" charset="-122"/>
                <a:cs typeface="VTB Group UI Semi Bold" pitchFamily="34" charset="-120"/>
              </a:rPr>
              <a:t>3</a:t>
            </a:r>
            <a:r>
              <a:rPr lang="en-US" sz="3000">
                <a:solidFill>
                  <a:srgbClr val="0B1733"/>
                </a:solidFill>
                <a:latin typeface="VTB Group UI Semi Bold" panose="020B0603050504020204" pitchFamily="34" charset="-52"/>
                <a:ea typeface="VTB Group UI Semi Bold" pitchFamily="34" charset="-122"/>
                <a:cs typeface="VTB Group UI Semi Bold" pitchFamily="34" charset="-120"/>
              </a:rPr>
              <a:t>:</a:t>
            </a:r>
            <a:r>
              <a:rPr lang="en-US" sz="30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 </a:t>
            </a:r>
            <a:r>
              <a:rPr lang="ru-RU" sz="30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«Контекст </a:t>
            </a:r>
            <a:r>
              <a:rPr lang="en-US" sz="30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INC/</a:t>
            </a:r>
            <a:r>
              <a:rPr lang="ru-RU" sz="30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Аварии на доске»</a:t>
            </a:r>
            <a:endParaRPr lang="en-US" sz="3400" dirty="0">
              <a:latin typeface="VTB Group UI Book" panose="020B0503040504020204" pitchFamily="34" charset="-52"/>
            </a:endParaRPr>
          </a:p>
        </p:txBody>
      </p:sp>
      <p:pic>
        <p:nvPicPr>
          <p:cNvPr id="4" name="TO BE 3" descr="tobe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6649" y="1250000"/>
            <a:ext cx="9598701" cy="5408000"/>
          </a:xfrm>
          <a:prstGeom prst="rect">
            <a:avLst/>
          </a:prstGeom>
          <a:ln w="9525">
            <a:solidFill>
              <a:srgbClr val="DDE3EC"/>
            </a:solidFill>
          </a:ln>
        </p:spPr>
      </p:pic>
    </p:spTree>
    <p:extLst>
      <p:ext uri="{BB962C8B-B14F-4D97-AF65-F5344CB8AC3E}">
        <p14:creationId xmlns:p14="http://schemas.microsoft.com/office/powerpoint/2010/main" val="293132961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505D8A-0425-18FD-2B09-78269982CB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7420DB7-428A-087E-F7B4-37F51F4AA3CF}"/>
              </a:ext>
            </a:extLst>
          </p:cNvPr>
          <p:cNvSpPr txBox="1"/>
          <p:nvPr/>
        </p:nvSpPr>
        <p:spPr>
          <a:xfrm>
            <a:off x="534296" y="404705"/>
            <a:ext cx="1126146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4800">
                <a:solidFill>
                  <a:srgbClr val="0B1733"/>
                </a:solidFill>
                <a:latin typeface="VTB Group UI Semi Bold" pitchFamily="34" charset="0"/>
                <a:ea typeface="VTB Group UI Semi Bold" pitchFamily="34" charset="-122"/>
                <a:cs typeface="VTB Group UI Semi Bold" pitchFamily="34" charset="-120"/>
              </a:rPr>
              <a:t>Техническое Задание (ТЗ)</a:t>
            </a:r>
            <a:endParaRPr lang="ru-RU" sz="320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1D8700-BF99-43E2-2B69-0EB16CB699CC}"/>
              </a:ext>
            </a:extLst>
          </p:cNvPr>
          <p:cNvSpPr txBox="1"/>
          <p:nvPr/>
        </p:nvSpPr>
        <p:spPr>
          <a:xfrm>
            <a:off x="706543" y="1590905"/>
            <a:ext cx="10916969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>
                <a:solidFill>
                  <a:schemeClr val="tx1">
                    <a:lumMod val="95000"/>
                    <a:lumOff val="5000"/>
                  </a:schemeClr>
                </a:solidFill>
                <a:latin typeface="VTB Group UI Semi Bold" panose="020B0603050504020204" pitchFamily="34" charset="-52"/>
              </a:rPr>
              <a:t>1)</a:t>
            </a:r>
            <a:r>
              <a:rPr lang="en-US">
                <a:solidFill>
                  <a:schemeClr val="tx1">
                    <a:lumMod val="95000"/>
                    <a:lumOff val="5000"/>
                  </a:schemeClr>
                </a:solidFill>
                <a:latin typeface="VTB Group UI Semi Bold" panose="020B0603050504020204" pitchFamily="34" charset="-52"/>
              </a:rPr>
              <a:t>    </a:t>
            </a:r>
            <a:r>
              <a:rPr lang="ru-RU">
                <a:solidFill>
                  <a:schemeClr val="tx1">
                    <a:lumMod val="95000"/>
                    <a:lumOff val="5000"/>
                  </a:schemeClr>
                </a:solidFill>
                <a:latin typeface="VTB Group UI Semi Bold" panose="020B0603050504020204" pitchFamily="34" charset="-52"/>
              </a:rPr>
              <a:t>Составление</a:t>
            </a:r>
            <a:r>
              <a:rPr lang="en-US">
                <a:solidFill>
                  <a:schemeClr val="tx1">
                    <a:lumMod val="95000"/>
                    <a:lumOff val="5000"/>
                  </a:schemeClr>
                </a:solidFill>
                <a:latin typeface="VTB Group UI Semi Bold" panose="020B0603050504020204" pitchFamily="34" charset="-52"/>
              </a:rPr>
              <a:t> | </a:t>
            </a:r>
            <a:r>
              <a:rPr lang="ru-RU">
                <a:solidFill>
                  <a:schemeClr val="tx1">
                    <a:lumMod val="95000"/>
                    <a:lumOff val="5000"/>
                  </a:schemeClr>
                </a:solidFill>
                <a:latin typeface="VTB Group UI Semi Bold" panose="020B0603050504020204" pitchFamily="34" charset="-52"/>
              </a:rPr>
              <a:t>Анализ требований</a:t>
            </a:r>
            <a:r>
              <a:rPr lang="en-US">
                <a:solidFill>
                  <a:schemeClr val="tx1">
                    <a:lumMod val="95000"/>
                    <a:lumOff val="5000"/>
                  </a:schemeClr>
                </a:solidFill>
                <a:latin typeface="VTB Group UI Semi Bold" panose="020B0603050504020204" pitchFamily="34" charset="-52"/>
              </a:rPr>
              <a:t> </a:t>
            </a:r>
            <a:endParaRPr lang="ru-RU">
              <a:solidFill>
                <a:schemeClr val="tx1">
                  <a:lumMod val="95000"/>
                  <a:lumOff val="5000"/>
                </a:schemeClr>
              </a:solidFill>
              <a:latin typeface="VTB Group UI Semi Bold" panose="020B0603050504020204" pitchFamily="34" charset="-52"/>
            </a:endParaRPr>
          </a:p>
          <a:p>
            <a:r>
              <a:rPr lang="ru-RU">
                <a:solidFill>
                  <a:schemeClr val="tx1">
                    <a:lumMod val="95000"/>
                    <a:lumOff val="5000"/>
                  </a:schemeClr>
                </a:solidFill>
                <a:latin typeface="VTB Group UI Semi Bold" panose="020B0603050504020204" pitchFamily="34" charset="-52"/>
              </a:rPr>
              <a:t>       </a:t>
            </a:r>
            <a:r>
              <a:rPr lang="ru-RU">
                <a:solidFill>
                  <a:schemeClr val="tx1">
                    <a:lumMod val="95000"/>
                    <a:lumOff val="5000"/>
                  </a:schemeClr>
                </a:solidFill>
                <a:latin typeface="VTB Group UI Book" panose="020B0503040504020204" pitchFamily="34" charset="-52"/>
              </a:rPr>
              <a:t>1.1)</a:t>
            </a:r>
            <a:r>
              <a:rPr lang="en-US">
                <a:solidFill>
                  <a:schemeClr val="tx1">
                    <a:lumMod val="95000"/>
                    <a:lumOff val="5000"/>
                  </a:schemeClr>
                </a:solidFill>
                <a:latin typeface="VTB Group UI Book" panose="020B0503040504020204" pitchFamily="34" charset="-52"/>
              </a:rPr>
              <a:t> </a:t>
            </a:r>
            <a:r>
              <a:rPr lang="ru-RU">
                <a:solidFill>
                  <a:schemeClr val="tx1">
                    <a:lumMod val="95000"/>
                    <a:lumOff val="5000"/>
                  </a:schemeClr>
                </a:solidFill>
                <a:latin typeface="VTB Group UI Book" panose="020B0503040504020204" pitchFamily="34" charset="-52"/>
              </a:rPr>
              <a:t>Описание функциональных требований</a:t>
            </a:r>
          </a:p>
          <a:p>
            <a:r>
              <a:rPr lang="ru-RU">
                <a:solidFill>
                  <a:schemeClr val="tx1">
                    <a:lumMod val="95000"/>
                    <a:lumOff val="5000"/>
                  </a:schemeClr>
                </a:solidFill>
                <a:latin typeface="VTB Group UI Book" panose="020B0503040504020204" pitchFamily="34" charset="-52"/>
              </a:rPr>
              <a:t>       1.2) Описание нефункциональных требований</a:t>
            </a:r>
            <a:br>
              <a:rPr lang="en-US">
                <a:solidFill>
                  <a:schemeClr val="tx1">
                    <a:lumMod val="95000"/>
                    <a:lumOff val="5000"/>
                  </a:schemeClr>
                </a:solidFill>
                <a:latin typeface="VTB Group UI Book" panose="020B0503040504020204" pitchFamily="34" charset="-52"/>
              </a:rPr>
            </a:br>
            <a:r>
              <a:rPr lang="en-US">
                <a:solidFill>
                  <a:schemeClr val="tx1">
                    <a:lumMod val="95000"/>
                    <a:lumOff val="5000"/>
                  </a:schemeClr>
                </a:solidFill>
                <a:latin typeface="VTB Group UI Book" panose="020B0503040504020204" pitchFamily="34" charset="-52"/>
              </a:rPr>
              <a:t>       1.3) </a:t>
            </a:r>
            <a:r>
              <a:rPr lang="ru-RU">
                <a:solidFill>
                  <a:schemeClr val="tx1">
                    <a:lumMod val="95000"/>
                    <a:lumOff val="5000"/>
                  </a:schemeClr>
                </a:solidFill>
                <a:latin typeface="VTB Group UI Book" panose="020B0503040504020204" pitchFamily="34" charset="-52"/>
              </a:rPr>
              <a:t>Составление перечня планируемого инструментария, описание их назначения</a:t>
            </a:r>
            <a:endParaRPr lang="ru-RU">
              <a:solidFill>
                <a:schemeClr val="tx1">
                  <a:lumMod val="95000"/>
                  <a:lumOff val="5000"/>
                </a:schemeClr>
              </a:solidFill>
              <a:latin typeface="VTB Group UI Semi Bold" panose="020B0603050504020204" pitchFamily="34" charset="-52"/>
            </a:endParaRPr>
          </a:p>
          <a:p>
            <a:r>
              <a:rPr lang="ru-RU">
                <a:solidFill>
                  <a:schemeClr val="tx1">
                    <a:lumMod val="95000"/>
                    <a:lumOff val="5000"/>
                  </a:schemeClr>
                </a:solidFill>
                <a:latin typeface="VTB Group UI Semi Bold" panose="020B0603050504020204" pitchFamily="34" charset="-52"/>
              </a:rPr>
              <a:t>2)   Проектирование</a:t>
            </a:r>
            <a:r>
              <a:rPr lang="en-US">
                <a:solidFill>
                  <a:schemeClr val="tx1">
                    <a:lumMod val="95000"/>
                    <a:lumOff val="5000"/>
                  </a:schemeClr>
                </a:solidFill>
                <a:latin typeface="VTB Group UI Semi Bold" panose="020B0603050504020204" pitchFamily="34" charset="-52"/>
              </a:rPr>
              <a:t>:</a:t>
            </a:r>
          </a:p>
          <a:p>
            <a:r>
              <a:rPr lang="en-US">
                <a:solidFill>
                  <a:schemeClr val="tx1">
                    <a:lumMod val="95000"/>
                    <a:lumOff val="5000"/>
                  </a:schemeClr>
                </a:solidFill>
                <a:latin typeface="VTB Group UI Semi Bold" panose="020B0603050504020204" pitchFamily="34" charset="-52"/>
              </a:rPr>
              <a:t>       </a:t>
            </a:r>
            <a:r>
              <a:rPr lang="ru-RU">
                <a:solidFill>
                  <a:schemeClr val="tx1">
                    <a:lumMod val="95000"/>
                    <a:lumOff val="5000"/>
                  </a:schemeClr>
                </a:solidFill>
                <a:latin typeface="VTB Group UI Book" panose="020B0503040504020204" pitchFamily="34" charset="-52"/>
              </a:rPr>
              <a:t>2.1) Создание </a:t>
            </a:r>
            <a:r>
              <a:rPr lang="en-US">
                <a:solidFill>
                  <a:schemeClr val="tx1">
                    <a:lumMod val="95000"/>
                    <a:lumOff val="5000"/>
                  </a:schemeClr>
                </a:solidFill>
                <a:latin typeface="VTB Group UI Book" panose="020B0503040504020204" pitchFamily="34" charset="-52"/>
              </a:rPr>
              <a:t>UI Kit’</a:t>
            </a:r>
            <a:r>
              <a:rPr lang="ru-RU">
                <a:solidFill>
                  <a:schemeClr val="tx1">
                    <a:lumMod val="95000"/>
                    <a:lumOff val="5000"/>
                  </a:schemeClr>
                </a:solidFill>
                <a:latin typeface="VTB Group UI Book" panose="020B0503040504020204" pitchFamily="34" charset="-52"/>
              </a:rPr>
              <a:t>а в </a:t>
            </a:r>
            <a:r>
              <a:rPr lang="en-US">
                <a:solidFill>
                  <a:schemeClr val="tx1">
                    <a:lumMod val="95000"/>
                    <a:lumOff val="5000"/>
                  </a:schemeClr>
                </a:solidFill>
                <a:latin typeface="VTB Group UI Book" panose="020B0503040504020204" pitchFamily="34" charset="-52"/>
              </a:rPr>
              <a:t>Figma</a:t>
            </a:r>
            <a:br>
              <a:rPr lang="ru-RU">
                <a:solidFill>
                  <a:schemeClr val="tx1">
                    <a:lumMod val="95000"/>
                    <a:lumOff val="5000"/>
                  </a:schemeClr>
                </a:solidFill>
                <a:latin typeface="VTB Group UI Book" panose="020B0503040504020204" pitchFamily="34" charset="-52"/>
              </a:rPr>
            </a:br>
            <a:r>
              <a:rPr lang="ru-RU">
                <a:solidFill>
                  <a:schemeClr val="tx1">
                    <a:lumMod val="95000"/>
                    <a:lumOff val="5000"/>
                  </a:schemeClr>
                </a:solidFill>
                <a:latin typeface="VTB Group UI Book" panose="020B0503040504020204" pitchFamily="34" charset="-52"/>
              </a:rPr>
              <a:t>       2.2) Описание сценариев пользовательских маршрутов (</a:t>
            </a:r>
            <a:r>
              <a:rPr lang="en-US">
                <a:solidFill>
                  <a:schemeClr val="tx1">
                    <a:lumMod val="95000"/>
                    <a:lumOff val="5000"/>
                  </a:schemeClr>
                </a:solidFill>
                <a:latin typeface="VTB Group UI Book" panose="020B0503040504020204" pitchFamily="34" charset="-52"/>
              </a:rPr>
              <a:t>User Flow</a:t>
            </a:r>
            <a:r>
              <a:rPr lang="ru-RU">
                <a:solidFill>
                  <a:schemeClr val="tx1">
                    <a:lumMod val="95000"/>
                    <a:lumOff val="5000"/>
                  </a:schemeClr>
                </a:solidFill>
                <a:latin typeface="VTB Group UI Book" panose="020B0503040504020204" pitchFamily="34" charset="-52"/>
              </a:rPr>
              <a:t>)</a:t>
            </a:r>
            <a:br>
              <a:rPr lang="ru-RU">
                <a:solidFill>
                  <a:schemeClr val="tx1">
                    <a:lumMod val="95000"/>
                    <a:lumOff val="5000"/>
                  </a:schemeClr>
                </a:solidFill>
                <a:latin typeface="VTB Group UI Book" panose="020B0503040504020204" pitchFamily="34" charset="-52"/>
              </a:rPr>
            </a:br>
            <a:r>
              <a:rPr lang="ru-RU">
                <a:solidFill>
                  <a:schemeClr val="tx1">
                    <a:lumMod val="95000"/>
                    <a:lumOff val="5000"/>
                  </a:schemeClr>
                </a:solidFill>
                <a:latin typeface="VTB Group UI Book" panose="020B0503040504020204" pitchFamily="34" charset="-52"/>
              </a:rPr>
              <a:t>       2.3) Макетирование </a:t>
            </a:r>
            <a:r>
              <a:rPr lang="en-US">
                <a:solidFill>
                  <a:schemeClr val="tx1">
                    <a:lumMod val="95000"/>
                    <a:lumOff val="5000"/>
                  </a:schemeClr>
                </a:solidFill>
                <a:latin typeface="VTB Group UI Book" panose="020B0503040504020204" pitchFamily="34" charset="-52"/>
              </a:rPr>
              <a:t>User Flow</a:t>
            </a:r>
            <a:endParaRPr lang="ru-RU">
              <a:solidFill>
                <a:schemeClr val="tx1">
                  <a:lumMod val="95000"/>
                  <a:lumOff val="5000"/>
                </a:schemeClr>
              </a:solidFill>
              <a:latin typeface="VTB Group UI Semi Bold" panose="020B0603050504020204" pitchFamily="34" charset="-52"/>
            </a:endParaRPr>
          </a:p>
          <a:p>
            <a:r>
              <a:rPr lang="ru-RU">
                <a:solidFill>
                  <a:schemeClr val="tx1">
                    <a:lumMod val="95000"/>
                    <a:lumOff val="5000"/>
                  </a:schemeClr>
                </a:solidFill>
                <a:latin typeface="VTB Group UI Semi Bold" panose="020B0603050504020204" pitchFamily="34" charset="-52"/>
              </a:rPr>
              <a:t>3)   Разработка</a:t>
            </a:r>
            <a:r>
              <a:rPr lang="en-US">
                <a:solidFill>
                  <a:schemeClr val="tx1">
                    <a:lumMod val="95000"/>
                    <a:lumOff val="5000"/>
                  </a:schemeClr>
                </a:solidFill>
                <a:latin typeface="VTB Group UI Semi Bold" panose="020B0603050504020204" pitchFamily="34" charset="-52"/>
              </a:rPr>
              <a:t>:</a:t>
            </a:r>
          </a:p>
          <a:p>
            <a:r>
              <a:rPr lang="en-US">
                <a:solidFill>
                  <a:schemeClr val="tx1">
                    <a:lumMod val="95000"/>
                    <a:lumOff val="5000"/>
                  </a:schemeClr>
                </a:solidFill>
                <a:latin typeface="VTB Group UI Semi Bold" panose="020B0603050504020204" pitchFamily="34" charset="-52"/>
              </a:rPr>
              <a:t>       </a:t>
            </a:r>
            <a:r>
              <a:rPr lang="en-US">
                <a:solidFill>
                  <a:schemeClr val="tx1">
                    <a:lumMod val="95000"/>
                    <a:lumOff val="5000"/>
                  </a:schemeClr>
                </a:solidFill>
                <a:latin typeface="VTB Group UI Book" panose="020B0503040504020204" pitchFamily="34" charset="-52"/>
              </a:rPr>
              <a:t>3</a:t>
            </a:r>
            <a:r>
              <a:rPr lang="ru-RU">
                <a:solidFill>
                  <a:schemeClr val="tx1">
                    <a:lumMod val="95000"/>
                    <a:lumOff val="5000"/>
                  </a:schemeClr>
                </a:solidFill>
                <a:latin typeface="VTB Group UI Book" panose="020B0503040504020204" pitchFamily="34" charset="-52"/>
              </a:rPr>
              <a:t>.1) Создание кастомной библитеки </a:t>
            </a:r>
            <a:r>
              <a:rPr lang="en-US">
                <a:solidFill>
                  <a:schemeClr val="tx1">
                    <a:lumMod val="95000"/>
                    <a:lumOff val="5000"/>
                  </a:schemeClr>
                </a:solidFill>
                <a:latin typeface="VTB Group UI Book" panose="020B0503040504020204" pitchFamily="34" charset="-52"/>
              </a:rPr>
              <a:t>UI</a:t>
            </a:r>
            <a:r>
              <a:rPr lang="ru-RU">
                <a:solidFill>
                  <a:schemeClr val="tx1">
                    <a:lumMod val="95000"/>
                    <a:lumOff val="5000"/>
                  </a:schemeClr>
                </a:solidFill>
                <a:latin typeface="VTB Group UI Book" panose="020B0503040504020204" pitchFamily="34" charset="-52"/>
              </a:rPr>
              <a:t>-компонентов в </a:t>
            </a:r>
            <a:r>
              <a:rPr lang="en-US">
                <a:solidFill>
                  <a:schemeClr val="tx1">
                    <a:lumMod val="95000"/>
                    <a:lumOff val="5000"/>
                  </a:schemeClr>
                </a:solidFill>
                <a:latin typeface="VTB Group UI Book" panose="020B0503040504020204" pitchFamily="34" charset="-52"/>
              </a:rPr>
              <a:t>React</a:t>
            </a:r>
            <a:br>
              <a:rPr lang="ru-RU">
                <a:solidFill>
                  <a:schemeClr val="tx1">
                    <a:lumMod val="95000"/>
                    <a:lumOff val="5000"/>
                  </a:schemeClr>
                </a:solidFill>
                <a:latin typeface="VTB Group UI Book" panose="020B0503040504020204" pitchFamily="34" charset="-52"/>
              </a:rPr>
            </a:br>
            <a:r>
              <a:rPr lang="ru-RU">
                <a:solidFill>
                  <a:schemeClr val="tx1">
                    <a:lumMod val="95000"/>
                    <a:lumOff val="5000"/>
                  </a:schemeClr>
                </a:solidFill>
                <a:latin typeface="VTB Group UI Book" panose="020B0503040504020204" pitchFamily="34" charset="-52"/>
              </a:rPr>
              <a:t>       </a:t>
            </a:r>
            <a:r>
              <a:rPr lang="en-US">
                <a:solidFill>
                  <a:schemeClr val="tx1">
                    <a:lumMod val="95000"/>
                    <a:lumOff val="5000"/>
                  </a:schemeClr>
                </a:solidFill>
                <a:latin typeface="VTB Group UI Book" panose="020B0503040504020204" pitchFamily="34" charset="-52"/>
              </a:rPr>
              <a:t>3</a:t>
            </a:r>
            <a:r>
              <a:rPr lang="ru-RU">
                <a:solidFill>
                  <a:schemeClr val="tx1">
                    <a:lumMod val="95000"/>
                    <a:lumOff val="5000"/>
                  </a:schemeClr>
                </a:solidFill>
                <a:latin typeface="VTB Group UI Book" panose="020B0503040504020204" pitchFamily="34" charset="-52"/>
              </a:rPr>
              <a:t>.2)</a:t>
            </a:r>
            <a:r>
              <a:rPr lang="en-US">
                <a:solidFill>
                  <a:schemeClr val="tx1">
                    <a:lumMod val="95000"/>
                    <a:lumOff val="5000"/>
                  </a:schemeClr>
                </a:solidFill>
                <a:latin typeface="VTB Group UI Book" panose="020B0503040504020204" pitchFamily="34" charset="-52"/>
              </a:rPr>
              <a:t> </a:t>
            </a:r>
            <a:r>
              <a:rPr lang="ru-RU">
                <a:solidFill>
                  <a:schemeClr val="tx1">
                    <a:lumMod val="95000"/>
                    <a:lumOff val="5000"/>
                  </a:schemeClr>
                </a:solidFill>
                <a:latin typeface="VTB Group UI Book" panose="020B0503040504020204" pitchFamily="34" charset="-52"/>
              </a:rPr>
              <a:t>Развертка тестового стенда</a:t>
            </a:r>
          </a:p>
          <a:p>
            <a:r>
              <a:rPr lang="ru-RU">
                <a:solidFill>
                  <a:schemeClr val="tx1">
                    <a:lumMod val="95000"/>
                    <a:lumOff val="5000"/>
                  </a:schemeClr>
                </a:solidFill>
                <a:latin typeface="VTB Group UI Semi Bold" panose="020B0603050504020204" pitchFamily="34" charset="-52"/>
              </a:rPr>
              <a:t>4) …</a:t>
            </a:r>
          </a:p>
          <a:p>
            <a:endParaRPr lang="ru-RU">
              <a:solidFill>
                <a:schemeClr val="tx1">
                  <a:lumMod val="95000"/>
                  <a:lumOff val="5000"/>
                </a:schemeClr>
              </a:solidFill>
              <a:latin typeface="VTB Group UI Book" panose="020B0503040504020204" pitchFamily="34" charset="-52"/>
            </a:endParaRPr>
          </a:p>
        </p:txBody>
      </p:sp>
    </p:spTree>
    <p:extLst>
      <p:ext uri="{BB962C8B-B14F-4D97-AF65-F5344CB8AC3E}">
        <p14:creationId xmlns:p14="http://schemas.microsoft.com/office/powerpoint/2010/main" val="375320807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45AD0C-DE16-7845-93A2-10B69CD5E1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57550A58-FFC6-43B0-1AE1-7EE47A016410}"/>
              </a:ext>
            </a:extLst>
          </p:cNvPr>
          <p:cNvSpPr txBox="1"/>
          <p:nvPr/>
        </p:nvSpPr>
        <p:spPr>
          <a:xfrm>
            <a:off x="534296" y="404705"/>
            <a:ext cx="1126146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4800">
                <a:solidFill>
                  <a:srgbClr val="0B1733"/>
                </a:solidFill>
                <a:latin typeface="VTB Group UI Semi Bold" pitchFamily="34" charset="0"/>
                <a:ea typeface="VTB Group UI Semi Bold" pitchFamily="34" charset="-122"/>
                <a:cs typeface="VTB Group UI Semi Bold" pitchFamily="34" charset="-120"/>
              </a:rPr>
              <a:t>Техническое Задание (ТЗ)</a:t>
            </a:r>
            <a:endParaRPr lang="ru-RU" sz="3200"/>
          </a:p>
        </p:txBody>
      </p:sp>
      <p:graphicFrame>
        <p:nvGraphicFramePr>
          <p:cNvPr id="2" name="Таблица 1">
            <a:extLst>
              <a:ext uri="{FF2B5EF4-FFF2-40B4-BE49-F238E27FC236}">
                <a16:creationId xmlns:a16="http://schemas.microsoft.com/office/drawing/2014/main" id="{B36205F3-E636-C5C8-6F4F-599DB0F79B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5652521"/>
              </p:ext>
            </p:extLst>
          </p:nvPr>
        </p:nvGraphicFramePr>
        <p:xfrm>
          <a:off x="534295" y="1453313"/>
          <a:ext cx="11261464" cy="2148473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5630732">
                  <a:extLst>
                    <a:ext uri="{9D8B030D-6E8A-4147-A177-3AD203B41FA5}">
                      <a16:colId xmlns:a16="http://schemas.microsoft.com/office/drawing/2014/main" val="1316740329"/>
                    </a:ext>
                  </a:extLst>
                </a:gridCol>
                <a:gridCol w="5630732">
                  <a:extLst>
                    <a:ext uri="{9D8B030D-6E8A-4147-A177-3AD203B41FA5}">
                      <a16:colId xmlns:a16="http://schemas.microsoft.com/office/drawing/2014/main" val="3952294350"/>
                    </a:ext>
                  </a:extLst>
                </a:gridCol>
              </a:tblGrid>
              <a:tr h="481813">
                <a:tc>
                  <a:txBody>
                    <a:bodyPr/>
                    <a:lstStyle/>
                    <a:p>
                      <a:pPr algn="ctr"/>
                      <a:r>
                        <a:rPr lang="ru-RU">
                          <a:latin typeface="VTB Group UI Semi Bold" panose="020B0603050504020204" pitchFamily="34" charset="-52"/>
                        </a:rPr>
                        <a:t>Этап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>
                          <a:latin typeface="VTB Group UI Semi Bold" panose="020B0603050504020204" pitchFamily="34" charset="-52"/>
                        </a:rPr>
                        <a:t>Ориентировочный срок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2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1080250"/>
                  </a:ext>
                </a:extLst>
              </a:tr>
              <a:tr h="833330">
                <a:tc>
                  <a:txBody>
                    <a:bodyPr/>
                    <a:lstStyle/>
                    <a:p>
                      <a:pPr algn="l"/>
                      <a:endParaRPr lang="ru-RU">
                        <a:latin typeface="VTB Group UI Book" panose="020B0503040504020204" pitchFamily="34" charset="-52"/>
                      </a:endParaRPr>
                    </a:p>
                  </a:txBody>
                  <a:tcPr marL="1828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>
                        <a:latin typeface="VTB Group UI Book" panose="020B0503040504020204" pitchFamily="34" charset="-5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06159448"/>
                  </a:ext>
                </a:extLst>
              </a:tr>
              <a:tr h="833330">
                <a:tc>
                  <a:txBody>
                    <a:bodyPr/>
                    <a:lstStyle/>
                    <a:p>
                      <a:pPr algn="l"/>
                      <a:endParaRPr lang="ru-RU">
                        <a:latin typeface="VTB Group UI Book" panose="020B0503040504020204" pitchFamily="34" charset="-52"/>
                      </a:endParaRPr>
                    </a:p>
                  </a:txBody>
                  <a:tcPr marL="1828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>
                        <a:latin typeface="VTB Group UI Book" panose="020B0503040504020204" pitchFamily="34" charset="-5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104796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36926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200</TotalTime>
  <Words>865</Words>
  <Application>Microsoft Office PowerPoint</Application>
  <PresentationFormat>Широкоэкранный</PresentationFormat>
  <Paragraphs>128</Paragraphs>
  <Slides>17</Slides>
  <Notes>17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17</vt:i4>
      </vt:variant>
    </vt:vector>
  </HeadingPairs>
  <TitlesOfParts>
    <vt:vector size="22" baseType="lpstr">
      <vt:lpstr>Arial</vt:lpstr>
      <vt:lpstr>Styrene A Bold</vt:lpstr>
      <vt:lpstr>VTB Group UI Book</vt:lpstr>
      <vt:lpstr>VTB Group UI Semi Bold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Рабочая доска для разбора аварий</dc:title>
  <dc:subject>PptxGenJS Presentation</dc:subject>
  <dc:creator>PptxGenJS</dc:creator>
  <cp:lastModifiedBy>Михаил</cp:lastModifiedBy>
  <cp:revision>71</cp:revision>
  <dcterms:created xsi:type="dcterms:W3CDTF">2026-10-23T08:46:36Z</dcterms:created>
  <dcterms:modified xsi:type="dcterms:W3CDTF">2026-10-26T08:02:09Z</dcterms:modified>
</cp:coreProperties>
</file>